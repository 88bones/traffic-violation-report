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89" r:id="rId4"/>
    <p:sldId id="259" r:id="rId5"/>
    <p:sldId id="260" r:id="rId6"/>
    <p:sldId id="261" r:id="rId7"/>
    <p:sldId id="268" r:id="rId8"/>
    <p:sldId id="269" r:id="rId9"/>
    <p:sldId id="270" r:id="rId10"/>
    <p:sldId id="271" r:id="rId11"/>
    <p:sldId id="273" r:id="rId12"/>
    <p:sldId id="274" r:id="rId13"/>
    <p:sldId id="275" r:id="rId14"/>
    <p:sldId id="277" r:id="rId15"/>
    <p:sldId id="278" r:id="rId16"/>
    <p:sldId id="286" r:id="rId17"/>
  </p:sldIdLst>
  <p:sldSz cx="9753600" cy="7315200"/>
  <p:notesSz cx="7315200" cy="97536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58"/>
    <p:restoredTop sz="94610"/>
  </p:normalViewPr>
  <p:slideViewPr>
    <p:cSldViewPr snapToGrid="0" snapToObjects="1">
      <p:cViewPr>
        <p:scale>
          <a:sx n="111" d="100"/>
          <a:sy n="111" d="100"/>
        </p:scale>
        <p:origin x="1576" y="5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2046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Traffic Violation Report System, BCA 8th semester final project.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context: informal reporting today, no structure, and Nepali plates are hard for existing OCR.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context: informal reporting today, no structure, and Nepali plates are hard for existing OCR.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320276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main objectives.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versus limitations.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actors: User and Admin.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Component architecture.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view.</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 diagram and object model.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 submission flow.</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Swimlane activity diagram.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Haversine steps.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DBSCAN parameters and steps.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grouped by area.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system modules.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work.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2.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1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0.png"/><Relationship Id="rId7"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E818684-6005-9B44-ACFC-00FCCD12B25A}"/>
              </a:ext>
            </a:extLst>
          </p:cNvPr>
          <p:cNvSpPr txBox="1"/>
          <p:nvPr/>
        </p:nvSpPr>
        <p:spPr>
          <a:xfrm>
            <a:off x="264288" y="2847373"/>
            <a:ext cx="9225022"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Traffic Violation Report System</a:t>
            </a:r>
          </a:p>
        </p:txBody>
      </p:sp>
      <p:sp>
        <p:nvSpPr>
          <p:cNvPr id="10" name="TextBox 9">
            <a:extLst>
              <a:ext uri="{FF2B5EF4-FFF2-40B4-BE49-F238E27FC236}">
                <a16:creationId xmlns:a16="http://schemas.microsoft.com/office/drawing/2014/main" id="{27864ABE-990D-494D-8354-93D7714A2463}"/>
              </a:ext>
            </a:extLst>
          </p:cNvPr>
          <p:cNvSpPr txBox="1"/>
          <p:nvPr/>
        </p:nvSpPr>
        <p:spPr>
          <a:xfrm>
            <a:off x="3093298" y="4868091"/>
            <a:ext cx="3567003" cy="830997"/>
          </a:xfrm>
          <a:prstGeom prst="rect">
            <a:avLst/>
          </a:prstGeom>
          <a:noFill/>
        </p:spPr>
        <p:txBody>
          <a:bodyPr wrap="none" rtlCol="0">
            <a:spAutoFit/>
          </a:bodyPr>
          <a:lstStyle/>
          <a:p>
            <a:pPr algn="ctr"/>
            <a:r>
              <a:rPr lang="en-US" sz="2400" b="1" dirty="0">
                <a:latin typeface="Times New Roman" panose="02020603050405020304" pitchFamily="18" charset="0"/>
                <a:cs typeface="Times New Roman" panose="02020603050405020304" pitchFamily="18" charset="0"/>
              </a:rPr>
              <a:t>Submitted By:</a:t>
            </a:r>
          </a:p>
          <a:p>
            <a:pPr algn="ctr"/>
            <a:r>
              <a:rPr lang="en-US" sz="2400" dirty="0">
                <a:latin typeface="Times New Roman" panose="02020603050405020304" pitchFamily="18" charset="0"/>
                <a:cs typeface="Times New Roman" panose="02020603050405020304" pitchFamily="18" charset="0"/>
              </a:rPr>
              <a:t>Binit </a:t>
            </a:r>
            <a:r>
              <a:rPr lang="en-US" sz="2400" dirty="0" err="1">
                <a:latin typeface="Times New Roman" panose="02020603050405020304" pitchFamily="18" charset="0"/>
                <a:cs typeface="Times New Roman" panose="02020603050405020304" pitchFamily="18" charset="0"/>
              </a:rPr>
              <a:t>Maharjan</a:t>
            </a:r>
            <a:r>
              <a:rPr lang="en-US" sz="2400" dirty="0">
                <a:latin typeface="Times New Roman" panose="02020603050405020304" pitchFamily="18" charset="0"/>
                <a:cs typeface="Times New Roman" panose="02020603050405020304" pitchFamily="18" charset="0"/>
              </a:rPr>
              <a:t> (37802046)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656625" cy="822960"/>
          </a:xfrm>
          <a:prstGeom prst="rect">
            <a:avLst/>
          </a:prstGeom>
          <a:solidFill>
            <a:srgbClr val="FFFFFF"/>
          </a:solidFill>
          <a:ln>
            <a:solidFill>
              <a:srgbClr val="FFFFFF"/>
            </a:solidFill>
          </a:ln>
        </p:spPr>
        <p:txBody>
          <a:bodyPr wrap="square" lIns="0" tIns="0" rIns="0" bIns="0" rtlCol="0" anchor="ctr"/>
          <a:lstStyle/>
          <a:p>
            <a:pPr marL="0" indent="0" algn="ctr">
              <a:spcBef>
                <a:spcPts val="0"/>
              </a:spcBef>
              <a:spcAft>
                <a:spcPts val="0"/>
              </a:spcAft>
              <a:buNone/>
            </a:pPr>
            <a:r>
              <a:rPr lang="en-US" sz="2400" b="1" i="0" u="none" dirty="0">
                <a:solidFill>
                  <a:srgbClr val="000000"/>
                </a:solidFill>
                <a:latin typeface="Times New Roman" panose="02020603050405020304" pitchFamily="18" charset="0"/>
                <a:ea typeface="Cambria" pitchFamily="34" charset="-122"/>
                <a:cs typeface="Times New Roman" panose="02020603050405020304" pitchFamily="18" charset="0"/>
              </a:rPr>
              <a:t>Introduction to Project</a:t>
            </a:r>
            <a:endParaRPr lang="en-US" sz="2400" b="1" dirty="0">
              <a:latin typeface="Times New Roman" panose="02020603050405020304" pitchFamily="18" charset="0"/>
              <a:cs typeface="Times New Roman" panose="02020603050405020304" pitchFamily="18" charset="0"/>
            </a:endParaRPr>
          </a:p>
        </p:txBody>
      </p:sp>
      <p:sp>
        <p:nvSpPr>
          <p:cNvPr id="3" name="Text 1"/>
          <p:cNvSpPr txBox="1"/>
          <p:nvPr/>
        </p:nvSpPr>
        <p:spPr>
          <a:xfrm>
            <a:off x="8748065" y="6858000"/>
            <a:ext cx="457200" cy="27432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Arial" pitchFamily="34" charset="0"/>
                <a:ea typeface="Calibri" pitchFamily="34" charset="-122"/>
                <a:cs typeface="Calibri" pitchFamily="34" charset="-120"/>
              </a:rPr>
              <a:t>2</a:t>
            </a:r>
            <a:endParaRPr lang="en-US" sz="1100" dirty="0"/>
          </a:p>
        </p:txBody>
      </p:sp>
      <p:sp>
        <p:nvSpPr>
          <p:cNvPr id="4" name="Text 2"/>
          <p:cNvSpPr txBox="1"/>
          <p:nvPr/>
        </p:nvSpPr>
        <p:spPr>
          <a:xfrm>
            <a:off x="548640" y="1463040"/>
            <a:ext cx="8656625" cy="5120640"/>
          </a:xfrm>
          <a:prstGeom prst="rect">
            <a:avLst/>
          </a:prstGeom>
          <a:solidFill>
            <a:srgbClr val="FFFFFF"/>
          </a:solidFill>
          <a:ln>
            <a:solidFill>
              <a:srgbClr val="FFFFFF"/>
            </a:solidFill>
          </a:ln>
        </p:spPr>
        <p:txBody>
          <a:bodyPr wrap="square" lIns="0" tIns="0" rIns="0" bIns="0" rtlCol="0" anchor="t"/>
          <a:lstStyle/>
          <a:p>
            <a:pPr marL="342900" indent="-342900" algn="l">
              <a:lnSpc>
                <a:spcPct val="150000"/>
              </a:lnSpc>
              <a:spcBef>
                <a:spcPts val="0"/>
              </a:spcBef>
              <a:spcAft>
                <a:spcPts val="0"/>
              </a:spcAft>
              <a:buSzPct val="100000"/>
              <a:buChar char="•"/>
            </a:pPr>
            <a:r>
              <a:rPr lang="en-US" b="0" i="0" u="none" dirty="0">
                <a:solidFill>
                  <a:srgbClr val="000000"/>
                </a:solidFill>
                <a:latin typeface="Times New Roman" panose="02020603050405020304" pitchFamily="18" charset="0"/>
                <a:ea typeface="Calibri" pitchFamily="34" charset="-122"/>
                <a:cs typeface="Times New Roman" panose="02020603050405020304" pitchFamily="18" charset="0"/>
              </a:rPr>
              <a:t>Rapid urbanization and a sharp rise in registered vehicles are straining Nepal’s manual, in-person traffic enforcement.</a:t>
            </a:r>
            <a:endParaRPr lang="en-US" sz="2000" dirty="0">
              <a:latin typeface="Times New Roman" panose="02020603050405020304" pitchFamily="18" charset="0"/>
              <a:cs typeface="Times New Roman" panose="02020603050405020304" pitchFamily="18" charset="0"/>
            </a:endParaRPr>
          </a:p>
          <a:p>
            <a:pPr marL="342900" indent="-342900" algn="l">
              <a:lnSpc>
                <a:spcPct val="150000"/>
              </a:lnSpc>
              <a:spcBef>
                <a:spcPts val="0"/>
              </a:spcBef>
              <a:spcAft>
                <a:spcPts val="0"/>
              </a:spcAft>
              <a:buSzPct val="100000"/>
              <a:buChar char="•"/>
            </a:pPr>
            <a:r>
              <a:rPr lang="en-US" b="0" i="0" u="none" dirty="0">
                <a:solidFill>
                  <a:srgbClr val="000000"/>
                </a:solidFill>
                <a:latin typeface="Times New Roman" panose="02020603050405020304" pitchFamily="18" charset="0"/>
                <a:ea typeface="Calibri" pitchFamily="34" charset="-122"/>
                <a:cs typeface="Times New Roman" panose="02020603050405020304" pitchFamily="18" charset="0"/>
              </a:rPr>
              <a:t>Citizens usually report violations informally through social media, with no structure, tracking, or accountability.</a:t>
            </a:r>
            <a:endParaRPr lang="en-US" sz="2000" dirty="0">
              <a:latin typeface="Times New Roman" panose="02020603050405020304" pitchFamily="18" charset="0"/>
              <a:cs typeface="Times New Roman" panose="02020603050405020304" pitchFamily="18" charset="0"/>
            </a:endParaRPr>
          </a:p>
          <a:p>
            <a:pPr marL="342900" indent="-342900" algn="l">
              <a:lnSpc>
                <a:spcPct val="150000"/>
              </a:lnSpc>
              <a:spcBef>
                <a:spcPts val="0"/>
              </a:spcBef>
              <a:spcAft>
                <a:spcPts val="0"/>
              </a:spcAft>
              <a:buSzPct val="100000"/>
              <a:buChar char="•"/>
            </a:pPr>
            <a:r>
              <a:rPr lang="en-US" b="0" i="0" u="none" dirty="0">
                <a:solidFill>
                  <a:srgbClr val="000000"/>
                </a:solidFill>
                <a:latin typeface="Times New Roman" panose="02020603050405020304" pitchFamily="18" charset="0"/>
                <a:ea typeface="Calibri" pitchFamily="34" charset="-122"/>
                <a:cs typeface="Times New Roman" panose="02020603050405020304" pitchFamily="18" charset="0"/>
              </a:rPr>
              <a:t>Reading Devanagari license plates by hand is slow, and off-the-shelf OCR is built mainly for Latin-script plates.</a:t>
            </a:r>
            <a:endParaRPr lang="en-US" sz="2000" dirty="0">
              <a:latin typeface="Times New Roman" panose="02020603050405020304" pitchFamily="18" charset="0"/>
              <a:cs typeface="Times New Roman" panose="02020603050405020304" pitchFamily="18" charset="0"/>
            </a:endParaRPr>
          </a:p>
          <a:p>
            <a:pPr marL="342900" indent="-342900" algn="l">
              <a:lnSpc>
                <a:spcPct val="150000"/>
              </a:lnSpc>
              <a:spcBef>
                <a:spcPts val="0"/>
              </a:spcBef>
              <a:spcAft>
                <a:spcPts val="0"/>
              </a:spcAft>
              <a:buSzPct val="100000"/>
              <a:buChar char="•"/>
            </a:pPr>
            <a:r>
              <a:rPr lang="en-US" b="0" i="0" u="none" dirty="0">
                <a:solidFill>
                  <a:srgbClr val="000000"/>
                </a:solidFill>
                <a:latin typeface="Times New Roman" panose="02020603050405020304" pitchFamily="18" charset="0"/>
                <a:ea typeface="Calibri" pitchFamily="34" charset="-122"/>
                <a:cs typeface="Times New Roman" panose="02020603050405020304" pitchFamily="18" charset="0"/>
              </a:rPr>
              <a:t>The Traffic Violation Reporting System lets citizens report violations with photo and location, while authorities verify and analyze reports centrally.</a:t>
            </a:r>
            <a:endParaRPr lang="en-US" sz="2000" dirty="0">
              <a:latin typeface="Times New Roman" panose="02020603050405020304" pitchFamily="18" charset="0"/>
              <a:cs typeface="Times New Roman" panose="02020603050405020304" pitchFamily="18" charset="0"/>
            </a:endParaRPr>
          </a:p>
          <a:p>
            <a:pPr marL="342900" indent="-342900" algn="l">
              <a:lnSpc>
                <a:spcPct val="150000"/>
              </a:lnSpc>
              <a:spcBef>
                <a:spcPts val="0"/>
              </a:spcBef>
              <a:spcAft>
                <a:spcPts val="0"/>
              </a:spcAft>
              <a:buSzPct val="100000"/>
              <a:buChar char="•"/>
            </a:pPr>
            <a:r>
              <a:rPr lang="en-US" b="0" i="0" u="none" dirty="0">
                <a:solidFill>
                  <a:srgbClr val="000000"/>
                </a:solidFill>
                <a:latin typeface="Times New Roman" panose="02020603050405020304" pitchFamily="18" charset="0"/>
                <a:ea typeface="Calibri" pitchFamily="34" charset="-122"/>
                <a:cs typeface="Times New Roman" panose="02020603050405020304" pitchFamily="18" charset="0"/>
              </a:rPr>
              <a:t>Built with React Native, React, Express, MongoDB, and a custom TensorFlow/OpenCV plate-recognition pipeline.</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656625" cy="822960"/>
          </a:xfrm>
          <a:prstGeom prst="rect">
            <a:avLst/>
          </a:prstGeom>
          <a:solidFill>
            <a:srgbClr val="FFFFFF"/>
          </a:solidFill>
          <a:ln>
            <a:solidFill>
              <a:srgbClr val="FFFFFF"/>
            </a:solidFill>
          </a:ln>
        </p:spPr>
        <p:txBody>
          <a:bodyPr wrap="square" lIns="0" tIns="0" rIns="0" bIns="0" rtlCol="0" anchor="ctr"/>
          <a:lstStyle/>
          <a:p>
            <a:pPr marL="0" indent="0" algn="ctr">
              <a:spcBef>
                <a:spcPts val="0"/>
              </a:spcBef>
              <a:spcAft>
                <a:spcPts val="0"/>
              </a:spcAft>
              <a:buNone/>
            </a:pPr>
            <a:r>
              <a:rPr lang="en-US" sz="2400" b="1" i="0" u="none" dirty="0">
                <a:solidFill>
                  <a:srgbClr val="000000"/>
                </a:solidFill>
                <a:latin typeface="Times New Roman" panose="02020603050405020304" pitchFamily="18" charset="0"/>
                <a:ea typeface="Cambria" pitchFamily="34" charset="-122"/>
                <a:cs typeface="Times New Roman" panose="02020603050405020304" pitchFamily="18" charset="0"/>
              </a:rPr>
              <a:t>Problem Statement</a:t>
            </a:r>
            <a:endParaRPr lang="en-US" sz="2400" b="1" dirty="0">
              <a:latin typeface="Times New Roman" panose="02020603050405020304" pitchFamily="18" charset="0"/>
              <a:cs typeface="Times New Roman" panose="02020603050405020304" pitchFamily="18" charset="0"/>
            </a:endParaRPr>
          </a:p>
        </p:txBody>
      </p:sp>
      <p:sp>
        <p:nvSpPr>
          <p:cNvPr id="3" name="Text 1"/>
          <p:cNvSpPr txBox="1"/>
          <p:nvPr/>
        </p:nvSpPr>
        <p:spPr>
          <a:xfrm>
            <a:off x="8748065" y="6858000"/>
            <a:ext cx="457200" cy="27432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Arial" pitchFamily="34" charset="0"/>
                <a:ea typeface="Calibri" pitchFamily="34" charset="-122"/>
                <a:cs typeface="Calibri" pitchFamily="34" charset="-120"/>
              </a:rPr>
              <a:t>2</a:t>
            </a:r>
            <a:endParaRPr lang="en-US" sz="1100" dirty="0"/>
          </a:p>
        </p:txBody>
      </p:sp>
      <p:sp>
        <p:nvSpPr>
          <p:cNvPr id="4" name="Text 2"/>
          <p:cNvSpPr txBox="1"/>
          <p:nvPr/>
        </p:nvSpPr>
        <p:spPr>
          <a:xfrm>
            <a:off x="548640" y="1463040"/>
            <a:ext cx="8656625" cy="5120640"/>
          </a:xfrm>
          <a:prstGeom prst="rect">
            <a:avLst/>
          </a:prstGeom>
          <a:solidFill>
            <a:srgbClr val="FFFFFF"/>
          </a:solidFill>
          <a:ln>
            <a:solidFill>
              <a:srgbClr val="FFFFFF"/>
            </a:solidFill>
          </a:ln>
        </p:spPr>
        <p:txBody>
          <a:bodyPr wrap="square" lIns="0" tIns="0" rIns="0" bIns="0" rtlCol="0" anchor="t"/>
          <a:lstStyle/>
          <a:p>
            <a:pPr>
              <a:lnSpc>
                <a:spcPct val="150000"/>
              </a:lnSpc>
            </a:pPr>
            <a:r>
              <a:rPr lang="en-GB" dirty="0">
                <a:latin typeface="Times New Roman" panose="02020603050405020304" pitchFamily="18" charset="0"/>
                <a:cs typeface="Times New Roman" panose="02020603050405020304" pitchFamily="18" charset="0"/>
              </a:rPr>
              <a:t>• Traffic violations often go unreported due to lack of an easy, accessible reporting</a:t>
            </a:r>
          </a:p>
          <a:p>
            <a:pPr>
              <a:lnSpc>
                <a:spcPct val="150000"/>
              </a:lnSpc>
            </a:pPr>
            <a:r>
              <a:rPr lang="en-GB" dirty="0">
                <a:latin typeface="Times New Roman" panose="02020603050405020304" pitchFamily="18" charset="0"/>
                <a:cs typeface="Times New Roman" panose="02020603050405020304" pitchFamily="18" charset="0"/>
              </a:rPr>
              <a:t>   channel for the public.</a:t>
            </a:r>
          </a:p>
          <a:p>
            <a:pPr>
              <a:lnSpc>
                <a:spcPct val="150000"/>
              </a:lnSpc>
            </a:pPr>
            <a:r>
              <a:rPr lang="en-GB" dirty="0">
                <a:latin typeface="Times New Roman" panose="02020603050405020304" pitchFamily="18" charset="0"/>
                <a:cs typeface="Times New Roman" panose="02020603050405020304" pitchFamily="18" charset="0"/>
              </a:rPr>
              <a:t>• Traffic authorities lack a centralized system to track, analyse, and act on violation</a:t>
            </a:r>
          </a:p>
          <a:p>
            <a:pPr>
              <a:lnSpc>
                <a:spcPct val="150000"/>
              </a:lnSpc>
            </a:pPr>
            <a:r>
              <a:rPr lang="en-GB" dirty="0">
                <a:latin typeface="Times New Roman" panose="02020603050405020304" pitchFamily="18" charset="0"/>
                <a:cs typeface="Times New Roman" panose="02020603050405020304" pitchFamily="18" charset="0"/>
              </a:rPr>
              <a:t>   trends across different locations.</a:t>
            </a:r>
          </a:p>
          <a:p>
            <a:pPr>
              <a:lnSpc>
                <a:spcPct val="150000"/>
              </a:lnSpc>
            </a:pPr>
            <a:r>
              <a:rPr lang="en-GB" dirty="0">
                <a:latin typeface="Times New Roman" panose="02020603050405020304" pitchFamily="18" charset="0"/>
                <a:cs typeface="Times New Roman" panose="02020603050405020304" pitchFamily="18" charset="0"/>
              </a:rPr>
              <a:t>• Manual identification of vehicle license plates from reported images is time-</a:t>
            </a:r>
          </a:p>
          <a:p>
            <a:pPr>
              <a:lnSpc>
                <a:spcPct val="150000"/>
              </a:lnSpc>
            </a:pPr>
            <a:r>
              <a:rPr lang="en-GB" dirty="0">
                <a:latin typeface="Times New Roman" panose="02020603050405020304" pitchFamily="18" charset="0"/>
                <a:cs typeface="Times New Roman" panose="02020603050405020304" pitchFamily="18" charset="0"/>
              </a:rPr>
              <a:t>   consuming and error-prone.</a:t>
            </a:r>
          </a:p>
          <a:p>
            <a:pPr>
              <a:lnSpc>
                <a:spcPct val="150000"/>
              </a:lnSpc>
            </a:pPr>
            <a:r>
              <a:rPr lang="en-GB" dirty="0">
                <a:latin typeface="Times New Roman" panose="02020603050405020304" pitchFamily="18" charset="0"/>
                <a:cs typeface="Times New Roman" panose="02020603050405020304" pitchFamily="18" charset="0"/>
              </a:rPr>
              <a:t>• There is no effective mechanism to identify violation hotspots or repeat offenders</a:t>
            </a:r>
          </a:p>
          <a:p>
            <a:pPr>
              <a:lnSpc>
                <a:spcPct val="150000"/>
              </a:lnSpc>
            </a:pPr>
            <a:r>
              <a:rPr lang="en-GB" dirty="0">
                <a:latin typeface="Times New Roman" panose="02020603050405020304" pitchFamily="18" charset="0"/>
                <a:cs typeface="Times New Roman" panose="02020603050405020304" pitchFamily="18" charset="0"/>
              </a:rPr>
              <a:t>  (flagged vehicles) using existing data.</a:t>
            </a:r>
          </a:p>
        </p:txBody>
      </p:sp>
    </p:spTree>
    <p:extLst>
      <p:ext uri="{BB962C8B-B14F-4D97-AF65-F5344CB8AC3E}">
        <p14:creationId xmlns:p14="http://schemas.microsoft.com/office/powerpoint/2010/main" val="19286410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656625" cy="822960"/>
          </a:xfrm>
          <a:prstGeom prst="rect">
            <a:avLst/>
          </a:prstGeom>
          <a:solidFill>
            <a:srgbClr val="FFFFFF"/>
          </a:solidFill>
          <a:ln>
            <a:solidFill>
              <a:srgbClr val="FFFFFF"/>
            </a:solidFill>
          </a:ln>
        </p:spPr>
        <p:txBody>
          <a:bodyPr wrap="square" lIns="0" tIns="0" rIns="0" bIns="0" rtlCol="0" anchor="ctr"/>
          <a:lstStyle/>
          <a:p>
            <a:pPr marL="0" indent="0" algn="ctr">
              <a:spcBef>
                <a:spcPts val="0"/>
              </a:spcBef>
              <a:spcAft>
                <a:spcPts val="0"/>
              </a:spcAft>
              <a:buNone/>
            </a:pPr>
            <a:r>
              <a:rPr lang="en-US" sz="2400" b="1" i="0" u="none" dirty="0">
                <a:solidFill>
                  <a:srgbClr val="000000"/>
                </a:solidFill>
                <a:latin typeface="Times New Roman" panose="02020603050405020304" pitchFamily="18" charset="0"/>
                <a:ea typeface="Cambria" pitchFamily="34" charset="-122"/>
                <a:cs typeface="Times New Roman" panose="02020603050405020304" pitchFamily="18" charset="0"/>
              </a:rPr>
              <a:t>Objectives of the Project</a:t>
            </a:r>
            <a:endParaRPr lang="en-US" sz="2400" b="1" dirty="0">
              <a:latin typeface="Times New Roman" panose="02020603050405020304" pitchFamily="18" charset="0"/>
              <a:cs typeface="Times New Roman" panose="02020603050405020304" pitchFamily="18" charset="0"/>
            </a:endParaRPr>
          </a:p>
        </p:txBody>
      </p:sp>
      <p:sp>
        <p:nvSpPr>
          <p:cNvPr id="3" name="Text 1"/>
          <p:cNvSpPr txBox="1"/>
          <p:nvPr/>
        </p:nvSpPr>
        <p:spPr>
          <a:xfrm>
            <a:off x="8748065" y="6858000"/>
            <a:ext cx="457200" cy="27432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Arial" pitchFamily="34" charset="0"/>
                <a:ea typeface="Calibri" pitchFamily="34" charset="-122"/>
                <a:cs typeface="Calibri" pitchFamily="34" charset="-120"/>
              </a:rPr>
              <a:t>4</a:t>
            </a:r>
            <a:endParaRPr lang="en-US" sz="1100" dirty="0"/>
          </a:p>
        </p:txBody>
      </p:sp>
      <p:sp>
        <p:nvSpPr>
          <p:cNvPr id="4" name="Shape 2"/>
          <p:cNvSpPr/>
          <p:nvPr/>
        </p:nvSpPr>
        <p:spPr>
          <a:xfrm>
            <a:off x="548641" y="1463040"/>
            <a:ext cx="8427720" cy="4434840"/>
          </a:xfrm>
          <a:prstGeom prst="roundRect">
            <a:avLst>
              <a:gd name="adj" fmla="val 6857"/>
            </a:avLst>
          </a:prstGeom>
          <a:solidFill>
            <a:srgbClr val="FFFFFF"/>
          </a:solidFill>
          <a:ln w="12700">
            <a:solidFill>
              <a:srgbClr val="FFFFFF"/>
            </a:solidFill>
            <a:prstDash val="solid"/>
          </a:ln>
        </p:spPr>
        <p:txBody>
          <a:bodyPr/>
          <a:lstStyle/>
          <a:p>
            <a:pPr algn="just">
              <a:lnSpc>
                <a:spcPct val="150000"/>
              </a:lnSpc>
            </a:pPr>
            <a:r>
              <a:rPr lang="en-GB" dirty="0">
                <a:latin typeface="Times New Roman" panose="02020603050405020304" pitchFamily="18" charset="0"/>
                <a:cs typeface="Times New Roman" panose="02020603050405020304" pitchFamily="18" charset="0"/>
              </a:rPr>
              <a:t>• To develop a cross platform mobile application that allows citizens to report traffic</a:t>
            </a:r>
          </a:p>
          <a:p>
            <a:pPr algn="just">
              <a:lnSpc>
                <a:spcPct val="150000"/>
              </a:lnSpc>
            </a:pPr>
            <a:r>
              <a:rPr lang="en-GB" dirty="0">
                <a:latin typeface="Times New Roman" panose="02020603050405020304" pitchFamily="18" charset="0"/>
                <a:cs typeface="Times New Roman" panose="02020603050405020304" pitchFamily="18" charset="0"/>
              </a:rPr>
              <a:t>   violations with photo evidence and location data.</a:t>
            </a:r>
          </a:p>
          <a:p>
            <a:pPr algn="just">
              <a:lnSpc>
                <a:spcPct val="150000"/>
              </a:lnSpc>
            </a:pPr>
            <a:r>
              <a:rPr lang="en-GB" dirty="0">
                <a:latin typeface="Times New Roman" panose="02020603050405020304" pitchFamily="18" charset="0"/>
                <a:cs typeface="Times New Roman" panose="02020603050405020304" pitchFamily="18" charset="0"/>
              </a:rPr>
              <a:t>• To implement an automated Nepali license plate recognition (OCR) pipeline to</a:t>
            </a:r>
          </a:p>
          <a:p>
            <a:pPr algn="just">
              <a:lnSpc>
                <a:spcPct val="150000"/>
              </a:lnSpc>
            </a:pPr>
            <a:r>
              <a:rPr lang="en-GB" dirty="0">
                <a:latin typeface="Times New Roman" panose="02020603050405020304" pitchFamily="18" charset="0"/>
                <a:cs typeface="Times New Roman" panose="02020603050405020304" pitchFamily="18" charset="0"/>
              </a:rPr>
              <a:t>   assist in identifying vehicles from violation images.</a:t>
            </a:r>
          </a:p>
          <a:p>
            <a:pPr algn="just">
              <a:lnSpc>
                <a:spcPct val="150000"/>
              </a:lnSpc>
            </a:pPr>
            <a:r>
              <a:rPr lang="en-GB" dirty="0">
                <a:latin typeface="Times New Roman" panose="02020603050405020304" pitchFamily="18" charset="0"/>
                <a:cs typeface="Times New Roman" panose="02020603050405020304" pitchFamily="18" charset="0"/>
              </a:rPr>
              <a:t>• To provide data-driven insights such as violation hotspot mapping and analytics for</a:t>
            </a:r>
          </a:p>
          <a:p>
            <a:pPr algn="just">
              <a:lnSpc>
                <a:spcPct val="150000"/>
              </a:lnSpc>
            </a:pPr>
            <a:r>
              <a:rPr lang="en-GB" dirty="0">
                <a:latin typeface="Times New Roman" panose="02020603050405020304" pitchFamily="18" charset="0"/>
                <a:cs typeface="Times New Roman" panose="02020603050405020304" pitchFamily="18" charset="0"/>
              </a:rPr>
              <a:t>   informed traffic enforcement decisions.</a:t>
            </a:r>
          </a:p>
        </p:txBody>
      </p:sp>
      <p:pic>
        <p:nvPicPr>
          <p:cNvPr id="16" name="Image 2" descr="preencoded.png"/>
          <p:cNvPicPr>
            <a:picLocks noChangeAspect="1"/>
          </p:cNvPicPr>
          <p:nvPr/>
        </p:nvPicPr>
        <p:blipFill>
          <a:blip r:embed="rId3"/>
          <a:stretch>
            <a:fillRect/>
          </a:stretch>
        </p:blipFill>
        <p:spPr>
          <a:xfrm>
            <a:off x="932688" y="5413248"/>
            <a:ext cx="329184" cy="32918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656625" cy="822960"/>
          </a:xfrm>
          <a:prstGeom prst="rect">
            <a:avLst/>
          </a:prstGeom>
          <a:solidFill>
            <a:srgbClr val="FFFFFF"/>
          </a:solidFill>
          <a:ln>
            <a:solidFill>
              <a:srgbClr val="FFFFFF"/>
            </a:solidFill>
          </a:ln>
        </p:spPr>
        <p:txBody>
          <a:bodyPr wrap="square" lIns="0" tIns="0" rIns="0" bIns="0" rtlCol="0" anchor="ctr"/>
          <a:lstStyle/>
          <a:p>
            <a:pPr marL="0" indent="0" algn="ctr">
              <a:spcBef>
                <a:spcPts val="0"/>
              </a:spcBef>
              <a:spcAft>
                <a:spcPts val="0"/>
              </a:spcAft>
              <a:buNone/>
            </a:pPr>
            <a:r>
              <a:rPr lang="en-US" sz="2400" b="1" i="0" u="none" dirty="0">
                <a:solidFill>
                  <a:srgbClr val="000000"/>
                </a:solidFill>
                <a:latin typeface="Times New Roman" panose="02020603050405020304" pitchFamily="18" charset="0"/>
                <a:ea typeface="Cambria" pitchFamily="34" charset="-122"/>
                <a:cs typeface="Times New Roman" panose="02020603050405020304" pitchFamily="18" charset="0"/>
              </a:rPr>
              <a:t>Scope and Limitations</a:t>
            </a:r>
            <a:endParaRPr lang="en-US" sz="2400" b="1" dirty="0">
              <a:latin typeface="Times New Roman" panose="02020603050405020304" pitchFamily="18" charset="0"/>
              <a:cs typeface="Times New Roman" panose="02020603050405020304" pitchFamily="18" charset="0"/>
            </a:endParaRPr>
          </a:p>
        </p:txBody>
      </p:sp>
      <p:sp>
        <p:nvSpPr>
          <p:cNvPr id="3" name="Text 1"/>
          <p:cNvSpPr txBox="1"/>
          <p:nvPr/>
        </p:nvSpPr>
        <p:spPr>
          <a:xfrm>
            <a:off x="8748065" y="6858000"/>
            <a:ext cx="457200" cy="27432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Times New Roman" panose="02020603050405020304" pitchFamily="18" charset="0"/>
                <a:ea typeface="Calibri" pitchFamily="34" charset="-122"/>
                <a:cs typeface="Times New Roman" panose="02020603050405020304" pitchFamily="18" charset="0"/>
              </a:rPr>
              <a:t>5</a:t>
            </a:r>
            <a:endParaRPr lang="en-US" sz="1100" dirty="0">
              <a:latin typeface="Times New Roman" panose="02020603050405020304" pitchFamily="18" charset="0"/>
              <a:cs typeface="Times New Roman" panose="02020603050405020304" pitchFamily="18" charset="0"/>
            </a:endParaRPr>
          </a:p>
        </p:txBody>
      </p:sp>
      <p:sp>
        <p:nvSpPr>
          <p:cNvPr id="4" name="Shape 2"/>
          <p:cNvSpPr/>
          <p:nvPr/>
        </p:nvSpPr>
        <p:spPr>
          <a:xfrm>
            <a:off x="548640" y="1463040"/>
            <a:ext cx="4023360" cy="5120640"/>
          </a:xfrm>
          <a:prstGeom prst="roundRect">
            <a:avLst>
              <a:gd name="adj" fmla="val 2727"/>
            </a:avLst>
          </a:prstGeom>
          <a:solidFill>
            <a:srgbClr val="FFFFFF"/>
          </a:solidFill>
          <a:ln w="12700">
            <a:solidFill>
              <a:srgbClr val="FFFFFF"/>
            </a:solidFill>
            <a:prstDash val="solid"/>
          </a:ln>
        </p:spPr>
        <p:txBody>
          <a:bodyPr/>
          <a:lstStyle/>
          <a:p>
            <a:pPr algn="l">
              <a:spcBef>
                <a:spcPts val="0"/>
              </a:spcBef>
              <a:spcAft>
                <a:spcPts val="0"/>
              </a:spcAft>
            </a:pPr>
            <a:endParaRPr>
              <a:latin typeface="Times New Roman" panose="02020603050405020304" pitchFamily="18" charset="0"/>
              <a:cs typeface="Times New Roman" panose="02020603050405020304" pitchFamily="18" charset="0"/>
            </a:endParaRPr>
          </a:p>
        </p:txBody>
      </p:sp>
      <p:sp>
        <p:nvSpPr>
          <p:cNvPr id="5" name="Text 3"/>
          <p:cNvSpPr txBox="1"/>
          <p:nvPr/>
        </p:nvSpPr>
        <p:spPr>
          <a:xfrm>
            <a:off x="822960" y="1645920"/>
            <a:ext cx="3474720" cy="45720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1" i="0" u="none" dirty="0">
                <a:solidFill>
                  <a:srgbClr val="000000"/>
                </a:solidFill>
                <a:latin typeface="Times New Roman" panose="02020603050405020304" pitchFamily="18" charset="0"/>
                <a:ea typeface="Cambria" pitchFamily="34" charset="-122"/>
                <a:cs typeface="Times New Roman" panose="02020603050405020304" pitchFamily="18" charset="0"/>
              </a:rPr>
              <a:t>Scope</a:t>
            </a:r>
            <a:endParaRPr lang="en-US" sz="2400" b="1" dirty="0">
              <a:latin typeface="Times New Roman" panose="02020603050405020304" pitchFamily="18" charset="0"/>
              <a:cs typeface="Times New Roman" panose="02020603050405020304" pitchFamily="18" charset="0"/>
            </a:endParaRPr>
          </a:p>
        </p:txBody>
      </p:sp>
      <p:sp>
        <p:nvSpPr>
          <p:cNvPr id="6" name="Text 4"/>
          <p:cNvSpPr txBox="1"/>
          <p:nvPr/>
        </p:nvSpPr>
        <p:spPr>
          <a:xfrm>
            <a:off x="822960" y="2286000"/>
            <a:ext cx="3474720" cy="4114800"/>
          </a:xfrm>
          <a:prstGeom prst="rect">
            <a:avLst/>
          </a:prstGeom>
          <a:solidFill>
            <a:srgbClr val="FFFFFF"/>
          </a:solidFill>
          <a:ln>
            <a:solidFill>
              <a:srgbClr val="FFFFFF"/>
            </a:solidFill>
          </a:ln>
        </p:spPr>
        <p:txBody>
          <a:bodyPr wrap="square" lIns="0" tIns="0" rIns="0" bIns="0" rtlCol="0" anchor="t"/>
          <a:lstStyle/>
          <a:p>
            <a:pPr marL="342900" indent="-342900" algn="l">
              <a:spcBef>
                <a:spcPts val="0"/>
              </a:spcBef>
              <a:spcAft>
                <a:spcPts val="0"/>
              </a:spcAft>
              <a:buSzPct val="100000"/>
              <a:buChar char="•"/>
            </a:pPr>
            <a:r>
              <a:rPr lang="en-US" b="0" i="0" u="none" dirty="0">
                <a:solidFill>
                  <a:srgbClr val="000000"/>
                </a:solidFill>
                <a:latin typeface="Times New Roman" panose="02020603050405020304" pitchFamily="18" charset="0"/>
                <a:ea typeface="Calibri" pitchFamily="34" charset="-122"/>
                <a:cs typeface="Times New Roman" panose="02020603050405020304" pitchFamily="18" charset="0"/>
              </a:rPr>
              <a:t>Mobile app for citizens to submit reports with images, location, and details.</a:t>
            </a:r>
            <a:endParaRPr lang="en-US" sz="1600" dirty="0">
              <a:latin typeface="Times New Roman" panose="02020603050405020304" pitchFamily="18" charset="0"/>
              <a:cs typeface="Times New Roman" panose="02020603050405020304" pitchFamily="18" charset="0"/>
            </a:endParaRPr>
          </a:p>
          <a:p>
            <a:pPr marL="342900" indent="-342900" algn="l">
              <a:spcBef>
                <a:spcPts val="0"/>
              </a:spcBef>
              <a:spcAft>
                <a:spcPts val="0"/>
              </a:spcAft>
              <a:buSzPct val="100000"/>
              <a:buChar char="•"/>
            </a:pPr>
            <a:r>
              <a:rPr lang="en-US" b="0" i="0" u="none" dirty="0">
                <a:solidFill>
                  <a:srgbClr val="000000"/>
                </a:solidFill>
                <a:latin typeface="Times New Roman" panose="02020603050405020304" pitchFamily="18" charset="0"/>
                <a:ea typeface="Calibri" pitchFamily="34" charset="-122"/>
                <a:cs typeface="Times New Roman" panose="02020603050405020304" pitchFamily="18" charset="0"/>
              </a:rPr>
              <a:t>Admin dashboard to manage reports, view analytics, and track hotspots on an interactive map.</a:t>
            </a:r>
            <a:endParaRPr lang="en-US" sz="1600" dirty="0">
              <a:latin typeface="Times New Roman" panose="02020603050405020304" pitchFamily="18" charset="0"/>
              <a:cs typeface="Times New Roman" panose="02020603050405020304" pitchFamily="18" charset="0"/>
            </a:endParaRPr>
          </a:p>
          <a:p>
            <a:pPr marL="342900" indent="-342900" algn="l">
              <a:spcBef>
                <a:spcPts val="0"/>
              </a:spcBef>
              <a:spcAft>
                <a:spcPts val="0"/>
              </a:spcAft>
              <a:buSzPct val="100000"/>
              <a:buChar char="•"/>
            </a:pPr>
            <a:r>
              <a:rPr lang="en-US" b="0" i="0" u="none" dirty="0">
                <a:solidFill>
                  <a:srgbClr val="000000"/>
                </a:solidFill>
                <a:latin typeface="Times New Roman" panose="02020603050405020304" pitchFamily="18" charset="0"/>
                <a:ea typeface="Calibri" pitchFamily="34" charset="-122"/>
                <a:cs typeface="Times New Roman" panose="02020603050405020304" pitchFamily="18" charset="0"/>
              </a:rPr>
              <a:t>Backend and OCR pipeline for storage, business logic, real-time communication, and plate recognition.</a:t>
            </a:r>
            <a:endParaRPr lang="en-US" sz="1600" dirty="0">
              <a:latin typeface="Times New Roman" panose="02020603050405020304" pitchFamily="18" charset="0"/>
              <a:cs typeface="Times New Roman" panose="02020603050405020304" pitchFamily="18" charset="0"/>
            </a:endParaRPr>
          </a:p>
        </p:txBody>
      </p:sp>
      <p:sp>
        <p:nvSpPr>
          <p:cNvPr id="7" name="Shape 5"/>
          <p:cNvSpPr/>
          <p:nvPr/>
        </p:nvSpPr>
        <p:spPr>
          <a:xfrm>
            <a:off x="4754880" y="1463040"/>
            <a:ext cx="4434840" cy="5120640"/>
          </a:xfrm>
          <a:prstGeom prst="roundRect">
            <a:avLst>
              <a:gd name="adj" fmla="val 2474"/>
            </a:avLst>
          </a:prstGeom>
          <a:solidFill>
            <a:srgbClr val="FFFFFF"/>
          </a:solidFill>
          <a:ln w="12700">
            <a:solidFill>
              <a:srgbClr val="FFFFFF"/>
            </a:solidFill>
            <a:prstDash val="solid"/>
          </a:ln>
        </p:spPr>
        <p:txBody>
          <a:bodyPr/>
          <a:lstStyle/>
          <a:p>
            <a:pPr algn="l">
              <a:spcBef>
                <a:spcPts val="0"/>
              </a:spcBef>
              <a:spcAft>
                <a:spcPts val="0"/>
              </a:spcAft>
            </a:pPr>
            <a:endParaRPr>
              <a:latin typeface="Times New Roman" panose="02020603050405020304" pitchFamily="18" charset="0"/>
              <a:cs typeface="Times New Roman" panose="02020603050405020304" pitchFamily="18" charset="0"/>
            </a:endParaRPr>
          </a:p>
        </p:txBody>
      </p:sp>
      <p:sp>
        <p:nvSpPr>
          <p:cNvPr id="8" name="Text 6"/>
          <p:cNvSpPr txBox="1"/>
          <p:nvPr/>
        </p:nvSpPr>
        <p:spPr>
          <a:xfrm>
            <a:off x="5029200" y="1645920"/>
            <a:ext cx="3931920" cy="45720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1" i="0" u="none" dirty="0">
                <a:solidFill>
                  <a:srgbClr val="000000"/>
                </a:solidFill>
                <a:latin typeface="Times New Roman" panose="02020603050405020304" pitchFamily="18" charset="0"/>
                <a:ea typeface="Cambria" pitchFamily="34" charset="-122"/>
                <a:cs typeface="Times New Roman" panose="02020603050405020304" pitchFamily="18" charset="0"/>
              </a:rPr>
              <a:t>Limitations</a:t>
            </a:r>
            <a:endParaRPr lang="en-US" sz="2400" b="1" dirty="0">
              <a:latin typeface="Times New Roman" panose="02020603050405020304" pitchFamily="18" charset="0"/>
              <a:cs typeface="Times New Roman" panose="02020603050405020304" pitchFamily="18" charset="0"/>
            </a:endParaRPr>
          </a:p>
        </p:txBody>
      </p:sp>
      <p:sp>
        <p:nvSpPr>
          <p:cNvPr id="9" name="Text 7"/>
          <p:cNvSpPr txBox="1"/>
          <p:nvPr/>
        </p:nvSpPr>
        <p:spPr>
          <a:xfrm>
            <a:off x="5029200" y="2286000"/>
            <a:ext cx="3931920" cy="4114800"/>
          </a:xfrm>
          <a:prstGeom prst="rect">
            <a:avLst/>
          </a:prstGeom>
          <a:solidFill>
            <a:srgbClr val="FFFFFF"/>
          </a:solidFill>
          <a:ln>
            <a:solidFill>
              <a:srgbClr val="FFFFFF"/>
            </a:solidFill>
          </a:ln>
        </p:spPr>
        <p:txBody>
          <a:bodyPr wrap="square" lIns="0" tIns="0" rIns="0" bIns="0" rtlCol="0" anchor="t"/>
          <a:lstStyle/>
          <a:p>
            <a:pPr marL="342900" indent="-342900" algn="l">
              <a:spcBef>
                <a:spcPts val="0"/>
              </a:spcBef>
              <a:spcAft>
                <a:spcPts val="0"/>
              </a:spcAft>
              <a:buSzPct val="100000"/>
              <a:buChar char="•"/>
            </a:pPr>
            <a:r>
              <a:rPr lang="en-US" b="0" i="0" u="none" dirty="0">
                <a:solidFill>
                  <a:srgbClr val="000000"/>
                </a:solidFill>
                <a:latin typeface="Times New Roman" panose="02020603050405020304" pitchFamily="18" charset="0"/>
                <a:ea typeface="Calibri" pitchFamily="34" charset="-122"/>
                <a:cs typeface="Times New Roman" panose="02020603050405020304" pitchFamily="18" charset="0"/>
              </a:rPr>
              <a:t>The custom OCR model may struggle with poor lighting, blur, odd angles, dirty plates, or non-standard formats, especially visually similar Devanagari characters.</a:t>
            </a:r>
            <a:endParaRPr lang="en-US" sz="1600" dirty="0">
              <a:latin typeface="Times New Roman" panose="02020603050405020304" pitchFamily="18" charset="0"/>
              <a:cs typeface="Times New Roman" panose="02020603050405020304" pitchFamily="18" charset="0"/>
            </a:endParaRPr>
          </a:p>
          <a:p>
            <a:pPr marL="342900" indent="-342900" algn="l">
              <a:spcBef>
                <a:spcPts val="0"/>
              </a:spcBef>
              <a:spcAft>
                <a:spcPts val="0"/>
              </a:spcAft>
              <a:buSzPct val="100000"/>
              <a:buChar char="•"/>
            </a:pPr>
            <a:r>
              <a:rPr lang="en-US" b="0" i="0" u="none" dirty="0">
                <a:solidFill>
                  <a:srgbClr val="000000"/>
                </a:solidFill>
                <a:latin typeface="Times New Roman" panose="02020603050405020304" pitchFamily="18" charset="0"/>
                <a:ea typeface="Calibri" pitchFamily="34" charset="-122"/>
                <a:cs typeface="Times New Roman" panose="02020603050405020304" pitchFamily="18" charset="0"/>
              </a:rPr>
              <a:t>No link to Nepal’s official vehicle registration database, so ownership and registration cannot be verified. Plates are only stored and flagged as reported.</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656625" cy="822960"/>
          </a:xfrm>
          <a:prstGeom prst="rect">
            <a:avLst/>
          </a:prstGeom>
          <a:solidFill>
            <a:srgbClr val="FFFFFF"/>
          </a:solidFill>
          <a:ln>
            <a:solidFill>
              <a:srgbClr val="FFFFFF"/>
            </a:solidFill>
          </a:ln>
        </p:spPr>
        <p:txBody>
          <a:bodyPr wrap="square" lIns="0" tIns="0" rIns="0" bIns="0" rtlCol="0" anchor="ctr"/>
          <a:lstStyle/>
          <a:p>
            <a:pPr marL="0" indent="0" algn="ctr">
              <a:spcBef>
                <a:spcPts val="0"/>
              </a:spcBef>
              <a:spcAft>
                <a:spcPts val="0"/>
              </a:spcAft>
              <a:buNone/>
            </a:pPr>
            <a:r>
              <a:rPr lang="en-US" sz="2400" b="1" i="0" u="none" dirty="0">
                <a:solidFill>
                  <a:srgbClr val="000000"/>
                </a:solidFill>
                <a:latin typeface="Times New Roman" panose="02020603050405020304" pitchFamily="18" charset="0"/>
                <a:ea typeface="Cambria" pitchFamily="34" charset="-122"/>
                <a:cs typeface="Times New Roman" panose="02020603050405020304" pitchFamily="18" charset="0"/>
              </a:rPr>
              <a:t>Functional Requirement</a:t>
            </a:r>
            <a:endParaRPr lang="en-US" sz="2400" b="1" dirty="0">
              <a:latin typeface="Times New Roman" panose="02020603050405020304" pitchFamily="18" charset="0"/>
              <a:cs typeface="Times New Roman" panose="02020603050405020304" pitchFamily="18" charset="0"/>
            </a:endParaRPr>
          </a:p>
        </p:txBody>
      </p:sp>
      <p:sp>
        <p:nvSpPr>
          <p:cNvPr id="3" name="Text 1"/>
          <p:cNvSpPr txBox="1"/>
          <p:nvPr/>
        </p:nvSpPr>
        <p:spPr>
          <a:xfrm>
            <a:off x="8748065" y="6858000"/>
            <a:ext cx="457200" cy="27432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Times New Roman" panose="02020603050405020304" pitchFamily="18" charset="0"/>
                <a:ea typeface="Calibri" pitchFamily="34" charset="-122"/>
                <a:cs typeface="Times New Roman" panose="02020603050405020304" pitchFamily="18" charset="0"/>
              </a:rPr>
              <a:t>6</a:t>
            </a:r>
            <a:endParaRPr lang="en-US" sz="1100" dirty="0">
              <a:latin typeface="Times New Roman" panose="02020603050405020304" pitchFamily="18" charset="0"/>
              <a:cs typeface="Times New Roman" panose="02020603050405020304" pitchFamily="18" charset="0"/>
            </a:endParaRPr>
          </a:p>
        </p:txBody>
      </p:sp>
      <p:sp>
        <p:nvSpPr>
          <p:cNvPr id="4" name="Text 2"/>
          <p:cNvSpPr txBox="1"/>
          <p:nvPr/>
        </p:nvSpPr>
        <p:spPr>
          <a:xfrm>
            <a:off x="548640" y="1554480"/>
            <a:ext cx="4297680" cy="4754880"/>
          </a:xfrm>
          <a:prstGeom prst="rect">
            <a:avLst/>
          </a:prstGeom>
          <a:solidFill>
            <a:srgbClr val="FFFFFF"/>
          </a:solidFill>
          <a:ln>
            <a:solidFill>
              <a:srgbClr val="FFFFFF"/>
            </a:solidFill>
          </a:ln>
        </p:spPr>
        <p:txBody>
          <a:bodyPr wrap="square" lIns="0" tIns="0" rIns="0" bIns="0" rtlCol="0" anchor="t"/>
          <a:lstStyle/>
          <a:p>
            <a:pPr marL="342900" indent="-342900" algn="l">
              <a:lnSpc>
                <a:spcPct val="150000"/>
              </a:lnSpc>
              <a:spcBef>
                <a:spcPts val="0"/>
              </a:spcBef>
              <a:spcAft>
                <a:spcPts val="0"/>
              </a:spcAft>
              <a:buSzPct val="100000"/>
              <a:buChar char="•"/>
            </a:pPr>
            <a:r>
              <a:rPr lang="en-US" b="0" i="0" u="none" dirty="0">
                <a:solidFill>
                  <a:srgbClr val="000000"/>
                </a:solidFill>
                <a:latin typeface="Times New Roman" panose="02020603050405020304" pitchFamily="18" charset="0"/>
                <a:ea typeface="Calibri" pitchFamily="34" charset="-122"/>
                <a:cs typeface="Times New Roman" panose="02020603050405020304" pitchFamily="18" charset="0"/>
              </a:rPr>
              <a:t>Sign up / sign in</a:t>
            </a:r>
            <a:endParaRPr lang="en-US" sz="1700" dirty="0">
              <a:latin typeface="Times New Roman" panose="02020603050405020304" pitchFamily="18" charset="0"/>
              <a:cs typeface="Times New Roman" panose="02020603050405020304" pitchFamily="18" charset="0"/>
            </a:endParaRPr>
          </a:p>
          <a:p>
            <a:pPr marL="342900" indent="-342900" algn="l">
              <a:lnSpc>
                <a:spcPct val="150000"/>
              </a:lnSpc>
              <a:spcBef>
                <a:spcPts val="0"/>
              </a:spcBef>
              <a:spcAft>
                <a:spcPts val="0"/>
              </a:spcAft>
              <a:buSzPct val="100000"/>
              <a:buChar char="•"/>
            </a:pPr>
            <a:r>
              <a:rPr lang="en-US" b="0" i="0" u="none" dirty="0">
                <a:solidFill>
                  <a:srgbClr val="000000"/>
                </a:solidFill>
                <a:latin typeface="Times New Roman" panose="02020603050405020304" pitchFamily="18" charset="0"/>
                <a:ea typeface="Calibri" pitchFamily="34" charset="-122"/>
                <a:cs typeface="Times New Roman" panose="02020603050405020304" pitchFamily="18" charset="0"/>
              </a:rPr>
              <a:t>Submit report, with optional auto-scan of the number plate</a:t>
            </a:r>
            <a:endParaRPr lang="en-US" sz="1700" dirty="0">
              <a:latin typeface="Times New Roman" panose="02020603050405020304" pitchFamily="18" charset="0"/>
              <a:cs typeface="Times New Roman" panose="02020603050405020304" pitchFamily="18" charset="0"/>
            </a:endParaRPr>
          </a:p>
          <a:p>
            <a:pPr marL="342900" indent="-342900" algn="l">
              <a:lnSpc>
                <a:spcPct val="150000"/>
              </a:lnSpc>
              <a:spcBef>
                <a:spcPts val="0"/>
              </a:spcBef>
              <a:spcAft>
                <a:spcPts val="0"/>
              </a:spcAft>
              <a:buSzPct val="100000"/>
              <a:buChar char="•"/>
            </a:pPr>
            <a:r>
              <a:rPr lang="en-US" b="0" i="0" u="none" dirty="0">
                <a:solidFill>
                  <a:srgbClr val="000000"/>
                </a:solidFill>
                <a:latin typeface="Times New Roman" panose="02020603050405020304" pitchFamily="18" charset="0"/>
                <a:ea typeface="Calibri" pitchFamily="34" charset="-122"/>
                <a:cs typeface="Times New Roman" panose="02020603050405020304" pitchFamily="18" charset="0"/>
              </a:rPr>
              <a:t>View, edit, and delete own reports</a:t>
            </a:r>
            <a:endParaRPr lang="en-US" sz="1700" dirty="0">
              <a:latin typeface="Times New Roman" panose="02020603050405020304" pitchFamily="18" charset="0"/>
              <a:cs typeface="Times New Roman" panose="02020603050405020304" pitchFamily="18" charset="0"/>
            </a:endParaRPr>
          </a:p>
          <a:p>
            <a:pPr marL="342900" indent="-342900" algn="l">
              <a:lnSpc>
                <a:spcPct val="150000"/>
              </a:lnSpc>
              <a:spcBef>
                <a:spcPts val="0"/>
              </a:spcBef>
              <a:spcAft>
                <a:spcPts val="0"/>
              </a:spcAft>
              <a:buSzPct val="100000"/>
              <a:buChar char="•"/>
            </a:pPr>
            <a:r>
              <a:rPr lang="en-US" b="0" i="0" u="none" dirty="0">
                <a:solidFill>
                  <a:srgbClr val="000000"/>
                </a:solidFill>
                <a:latin typeface="Times New Roman" panose="02020603050405020304" pitchFamily="18" charset="0"/>
                <a:ea typeface="Calibri" pitchFamily="34" charset="-122"/>
                <a:cs typeface="Times New Roman" panose="02020603050405020304" pitchFamily="18" charset="0"/>
              </a:rPr>
              <a:t>View DBSCAN hotspot map (user and admin)</a:t>
            </a:r>
            <a:endParaRPr lang="en-US" sz="1700" dirty="0">
              <a:latin typeface="Times New Roman" panose="02020603050405020304" pitchFamily="18" charset="0"/>
              <a:cs typeface="Times New Roman" panose="02020603050405020304" pitchFamily="18" charset="0"/>
            </a:endParaRPr>
          </a:p>
          <a:p>
            <a:pPr marL="342900" indent="-342900" algn="l">
              <a:lnSpc>
                <a:spcPct val="150000"/>
              </a:lnSpc>
              <a:spcBef>
                <a:spcPts val="0"/>
              </a:spcBef>
              <a:spcAft>
                <a:spcPts val="0"/>
              </a:spcAft>
              <a:buSzPct val="100000"/>
              <a:buChar char="•"/>
            </a:pPr>
            <a:r>
              <a:rPr lang="en-US" b="0" i="0" u="none" dirty="0">
                <a:solidFill>
                  <a:srgbClr val="000000"/>
                </a:solidFill>
                <a:latin typeface="Times New Roman" panose="02020603050405020304" pitchFamily="18" charset="0"/>
                <a:ea typeface="Calibri" pitchFamily="34" charset="-122"/>
                <a:cs typeface="Times New Roman" panose="02020603050405020304" pitchFamily="18" charset="0"/>
              </a:rPr>
              <a:t>Receive notifications on status changes</a:t>
            </a:r>
            <a:endParaRPr lang="en-US" sz="1700" dirty="0">
              <a:latin typeface="Times New Roman" panose="02020603050405020304" pitchFamily="18" charset="0"/>
              <a:cs typeface="Times New Roman" panose="02020603050405020304" pitchFamily="18" charset="0"/>
            </a:endParaRPr>
          </a:p>
          <a:p>
            <a:pPr marL="342900" indent="-342900" algn="l">
              <a:lnSpc>
                <a:spcPct val="150000"/>
              </a:lnSpc>
              <a:spcBef>
                <a:spcPts val="0"/>
              </a:spcBef>
              <a:spcAft>
                <a:spcPts val="0"/>
              </a:spcAft>
              <a:buSzPct val="100000"/>
              <a:buChar char="•"/>
            </a:pPr>
            <a:r>
              <a:rPr lang="en-US" b="0" i="0" u="none" dirty="0">
                <a:solidFill>
                  <a:srgbClr val="000000"/>
                </a:solidFill>
                <a:latin typeface="Times New Roman" panose="02020603050405020304" pitchFamily="18" charset="0"/>
                <a:ea typeface="Calibri" pitchFamily="34" charset="-122"/>
                <a:cs typeface="Times New Roman" panose="02020603050405020304" pitchFamily="18" charset="0"/>
              </a:rPr>
              <a:t>Admin: review all reports, update status, generate PDF, manage users</a:t>
            </a:r>
            <a:endParaRPr lang="en-US" sz="1700" dirty="0">
              <a:latin typeface="Times New Roman" panose="02020603050405020304" pitchFamily="18" charset="0"/>
              <a:cs typeface="Times New Roman" panose="02020603050405020304" pitchFamily="18" charset="0"/>
            </a:endParaRPr>
          </a:p>
        </p:txBody>
      </p:sp>
      <p:pic>
        <p:nvPicPr>
          <p:cNvPr id="5" name="Image 0" descr="/home/claude/img/usecase.png"/>
          <p:cNvPicPr>
            <a:picLocks noChangeAspect="1"/>
          </p:cNvPicPr>
          <p:nvPr/>
        </p:nvPicPr>
        <p:blipFill>
          <a:blip r:embed="rId3"/>
          <a:stretch>
            <a:fillRect/>
          </a:stretch>
        </p:blipFill>
        <p:spPr>
          <a:xfrm>
            <a:off x="5277087" y="1280160"/>
            <a:ext cx="3710466" cy="5303520"/>
          </a:xfrm>
          <a:prstGeom prst="rect">
            <a:avLst/>
          </a:prstGeom>
        </p:spPr>
      </p:pic>
      <p:sp>
        <p:nvSpPr>
          <p:cNvPr id="6" name="Text 3"/>
          <p:cNvSpPr txBox="1"/>
          <p:nvPr/>
        </p:nvSpPr>
        <p:spPr>
          <a:xfrm>
            <a:off x="5524972" y="6675120"/>
            <a:ext cx="3710467" cy="18288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Times New Roman" panose="02020603050405020304" pitchFamily="18" charset="0"/>
                <a:ea typeface="Calibri" pitchFamily="34" charset="-122"/>
                <a:cs typeface="Times New Roman" panose="02020603050405020304" pitchFamily="18" charset="0"/>
              </a:rPr>
              <a:t>Figure: Use Case Diagram</a:t>
            </a:r>
            <a:endParaRPr lang="en-US" sz="1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656625" cy="822960"/>
          </a:xfrm>
          <a:prstGeom prst="rect">
            <a:avLst/>
          </a:prstGeom>
          <a:solidFill>
            <a:srgbClr val="FFFFFF"/>
          </a:solidFill>
          <a:ln>
            <a:solidFill>
              <a:srgbClr val="FFFFFF"/>
            </a:solidFill>
          </a:ln>
        </p:spPr>
        <p:txBody>
          <a:bodyPr wrap="square" lIns="0" tIns="0" rIns="0" bIns="0" rtlCol="0" anchor="ctr"/>
          <a:lstStyle/>
          <a:p>
            <a:pPr marL="0" indent="0" algn="ctr">
              <a:spcBef>
                <a:spcPts val="0"/>
              </a:spcBef>
              <a:spcAft>
                <a:spcPts val="0"/>
              </a:spcAft>
              <a:buNone/>
            </a:pPr>
            <a:r>
              <a:rPr lang="en-US" sz="2400" b="1" i="0" u="none" dirty="0">
                <a:solidFill>
                  <a:srgbClr val="000000"/>
                </a:solidFill>
                <a:latin typeface="Times New Roman" panose="02020603050405020304" pitchFamily="18" charset="0"/>
                <a:ea typeface="Cambria" pitchFamily="34" charset="-122"/>
                <a:cs typeface="Times New Roman" panose="02020603050405020304" pitchFamily="18" charset="0"/>
              </a:rPr>
              <a:t>System Design: Component Diagram</a:t>
            </a:r>
            <a:endParaRPr lang="en-US" sz="2400" b="1" dirty="0">
              <a:latin typeface="Times New Roman" panose="02020603050405020304" pitchFamily="18" charset="0"/>
              <a:cs typeface="Times New Roman" panose="02020603050405020304" pitchFamily="18" charset="0"/>
            </a:endParaRPr>
          </a:p>
        </p:txBody>
      </p:sp>
      <p:sp>
        <p:nvSpPr>
          <p:cNvPr id="3" name="Text 1"/>
          <p:cNvSpPr txBox="1"/>
          <p:nvPr/>
        </p:nvSpPr>
        <p:spPr>
          <a:xfrm>
            <a:off x="8748065" y="6858000"/>
            <a:ext cx="457200" cy="27432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Times New Roman" panose="02020603050405020304" pitchFamily="18" charset="0"/>
                <a:ea typeface="Calibri" pitchFamily="34" charset="-122"/>
                <a:cs typeface="Times New Roman" panose="02020603050405020304" pitchFamily="18" charset="0"/>
              </a:rPr>
              <a:t>13</a:t>
            </a:r>
            <a:endParaRPr lang="en-US" sz="1100" dirty="0">
              <a:latin typeface="Times New Roman" panose="02020603050405020304" pitchFamily="18" charset="0"/>
              <a:cs typeface="Times New Roman" panose="02020603050405020304" pitchFamily="18" charset="0"/>
            </a:endParaRPr>
          </a:p>
        </p:txBody>
      </p:sp>
      <p:pic>
        <p:nvPicPr>
          <p:cNvPr id="7" name="Image 0" descr="/home/claude/img/comp.png">
            <a:extLst>
              <a:ext uri="{FF2B5EF4-FFF2-40B4-BE49-F238E27FC236}">
                <a16:creationId xmlns:a16="http://schemas.microsoft.com/office/drawing/2014/main" id="{51FBE545-AED4-BC47-BDE1-E0AE9835C4D2}"/>
              </a:ext>
            </a:extLst>
          </p:cNvPr>
          <p:cNvPicPr>
            <a:picLocks noChangeAspect="1"/>
          </p:cNvPicPr>
          <p:nvPr/>
        </p:nvPicPr>
        <p:blipFill>
          <a:blip r:embed="rId3"/>
          <a:stretch>
            <a:fillRect/>
          </a:stretch>
        </p:blipFill>
        <p:spPr>
          <a:xfrm>
            <a:off x="2320834" y="1188720"/>
            <a:ext cx="5111931" cy="507810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656625" cy="822960"/>
          </a:xfrm>
          <a:prstGeom prst="rect">
            <a:avLst/>
          </a:prstGeom>
          <a:solidFill>
            <a:srgbClr val="FFFFFF"/>
          </a:solidFill>
          <a:ln>
            <a:solidFill>
              <a:srgbClr val="FFFFFF"/>
            </a:solidFill>
          </a:ln>
        </p:spPr>
        <p:txBody>
          <a:bodyPr wrap="square" lIns="0" tIns="0" rIns="0" bIns="0" rtlCol="0" anchor="ctr"/>
          <a:lstStyle/>
          <a:p>
            <a:pPr marL="0" indent="0" algn="ctr">
              <a:spcBef>
                <a:spcPts val="0"/>
              </a:spcBef>
              <a:spcAft>
                <a:spcPts val="0"/>
              </a:spcAft>
              <a:buNone/>
            </a:pPr>
            <a:r>
              <a:rPr lang="en-US" sz="2400" b="1" i="0" u="none" dirty="0">
                <a:solidFill>
                  <a:srgbClr val="000000"/>
                </a:solidFill>
                <a:latin typeface="Times New Roman" panose="02020603050405020304" pitchFamily="18" charset="0"/>
                <a:ea typeface="Cambria" pitchFamily="34" charset="-122"/>
                <a:cs typeface="Times New Roman" panose="02020603050405020304" pitchFamily="18" charset="0"/>
              </a:rPr>
              <a:t>Deployment Diagram</a:t>
            </a:r>
            <a:endParaRPr lang="en-US" sz="2400" b="1" dirty="0">
              <a:latin typeface="Times New Roman" panose="02020603050405020304" pitchFamily="18" charset="0"/>
              <a:cs typeface="Times New Roman" panose="02020603050405020304" pitchFamily="18" charset="0"/>
            </a:endParaRPr>
          </a:p>
        </p:txBody>
      </p:sp>
      <p:sp>
        <p:nvSpPr>
          <p:cNvPr id="3" name="Text 1"/>
          <p:cNvSpPr txBox="1"/>
          <p:nvPr/>
        </p:nvSpPr>
        <p:spPr>
          <a:xfrm>
            <a:off x="8748065" y="6858000"/>
            <a:ext cx="457200" cy="27432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Arial" pitchFamily="34" charset="0"/>
                <a:ea typeface="Calibri" pitchFamily="34" charset="-122"/>
                <a:cs typeface="Calibri" pitchFamily="34" charset="-120"/>
              </a:rPr>
              <a:t>14</a:t>
            </a:r>
            <a:endParaRPr lang="en-US" sz="1100" dirty="0"/>
          </a:p>
        </p:txBody>
      </p:sp>
      <p:pic>
        <p:nvPicPr>
          <p:cNvPr id="4" name="Image 0" descr="/home/claude/img/deploy.png"/>
          <p:cNvPicPr>
            <a:picLocks noChangeAspect="1"/>
          </p:cNvPicPr>
          <p:nvPr/>
        </p:nvPicPr>
        <p:blipFill>
          <a:blip r:embed="rId3"/>
          <a:stretch>
            <a:fillRect/>
          </a:stretch>
        </p:blipFill>
        <p:spPr>
          <a:xfrm>
            <a:off x="1917798" y="1371600"/>
            <a:ext cx="5918308" cy="3566160"/>
          </a:xfrm>
          <a:prstGeom prst="rect">
            <a:avLst/>
          </a:prstGeom>
        </p:spPr>
      </p:pic>
      <p:sp>
        <p:nvSpPr>
          <p:cNvPr id="5" name="Text 2"/>
          <p:cNvSpPr txBox="1"/>
          <p:nvPr/>
        </p:nvSpPr>
        <p:spPr>
          <a:xfrm>
            <a:off x="548640" y="5120640"/>
            <a:ext cx="8656625" cy="146304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Times New Roman" panose="02020603050405020304" pitchFamily="18" charset="0"/>
                <a:ea typeface="Calibri" pitchFamily="34" charset="-122"/>
                <a:cs typeface="Times New Roman" panose="02020603050405020304" pitchFamily="18" charset="0"/>
              </a:rPr>
              <a:t>Citizens submit reports over HTTPS to the Express application server, which calls the OCR engine, stores data in MongoDB and images in file storage, pushes live reports to the admin dashboard via Socket.io, and sends push notifications through Firebase Cloud Messaging.</a:t>
            </a:r>
            <a:endParaRPr lang="en-US" sz="15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656625" cy="822960"/>
          </a:xfrm>
          <a:prstGeom prst="rect">
            <a:avLst/>
          </a:prstGeom>
          <a:solidFill>
            <a:srgbClr val="FFFFFF"/>
          </a:solidFill>
          <a:ln>
            <a:solidFill>
              <a:srgbClr val="FFFFFF"/>
            </a:solidFill>
          </a:ln>
        </p:spPr>
        <p:txBody>
          <a:bodyPr wrap="square" lIns="0" tIns="0" rIns="0" bIns="0" rtlCol="0" anchor="ctr"/>
          <a:lstStyle/>
          <a:p>
            <a:pPr marL="0" indent="0" algn="ctr">
              <a:spcBef>
                <a:spcPts val="0"/>
              </a:spcBef>
              <a:spcAft>
                <a:spcPts val="0"/>
              </a:spcAft>
              <a:buNone/>
            </a:pPr>
            <a:r>
              <a:rPr lang="en-US" sz="2400" b="1" i="0" u="none" dirty="0">
                <a:solidFill>
                  <a:srgbClr val="000000"/>
                </a:solidFill>
                <a:latin typeface="Times New Roman" panose="02020603050405020304" pitchFamily="18" charset="0"/>
                <a:ea typeface="Cambria" pitchFamily="34" charset="-122"/>
                <a:cs typeface="Times New Roman" panose="02020603050405020304" pitchFamily="18" charset="0"/>
              </a:rPr>
              <a:t>ER Diagram</a:t>
            </a:r>
            <a:endParaRPr lang="en-US" sz="2400" b="1" dirty="0">
              <a:latin typeface="Times New Roman" panose="02020603050405020304" pitchFamily="18" charset="0"/>
              <a:cs typeface="Times New Roman" panose="02020603050405020304" pitchFamily="18" charset="0"/>
            </a:endParaRPr>
          </a:p>
        </p:txBody>
      </p:sp>
      <p:sp>
        <p:nvSpPr>
          <p:cNvPr id="3" name="Text 1"/>
          <p:cNvSpPr txBox="1"/>
          <p:nvPr/>
        </p:nvSpPr>
        <p:spPr>
          <a:xfrm>
            <a:off x="8748065" y="6858000"/>
            <a:ext cx="457200" cy="27432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Arial" pitchFamily="34" charset="0"/>
                <a:ea typeface="Calibri" pitchFamily="34" charset="-122"/>
                <a:cs typeface="Calibri" pitchFamily="34" charset="-120"/>
              </a:rPr>
              <a:t>15</a:t>
            </a:r>
            <a:endParaRPr lang="en-US" sz="1100" dirty="0"/>
          </a:p>
        </p:txBody>
      </p:sp>
      <p:pic>
        <p:nvPicPr>
          <p:cNvPr id="4" name="Image 0" descr="/home/claude/img/er.png"/>
          <p:cNvPicPr>
            <a:picLocks noChangeAspect="1"/>
          </p:cNvPicPr>
          <p:nvPr/>
        </p:nvPicPr>
        <p:blipFill>
          <a:blip r:embed="rId3"/>
          <a:stretch>
            <a:fillRect/>
          </a:stretch>
        </p:blipFill>
        <p:spPr>
          <a:xfrm>
            <a:off x="773629" y="1280160"/>
            <a:ext cx="4762102" cy="5394960"/>
          </a:xfrm>
          <a:prstGeom prst="rect">
            <a:avLst/>
          </a:prstGeom>
        </p:spPr>
      </p:pic>
      <p:pic>
        <p:nvPicPr>
          <p:cNvPr id="6" name="Image 0" descr="/home/claude/img/er.png">
            <a:extLst>
              <a:ext uri="{FF2B5EF4-FFF2-40B4-BE49-F238E27FC236}">
                <a16:creationId xmlns:a16="http://schemas.microsoft.com/office/drawing/2014/main" id="{83B266C7-F602-C242-B90F-D2EFA59483E4}"/>
              </a:ext>
            </a:extLst>
          </p:cNvPr>
          <p:cNvPicPr>
            <a:picLocks noChangeAspect="1"/>
          </p:cNvPicPr>
          <p:nvPr/>
        </p:nvPicPr>
        <p:blipFill>
          <a:blip r:embed="rId3"/>
          <a:stretch>
            <a:fillRect/>
          </a:stretch>
        </p:blipFill>
        <p:spPr>
          <a:xfrm>
            <a:off x="2304717" y="1167455"/>
            <a:ext cx="4762102" cy="53949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656625" cy="822960"/>
          </a:xfrm>
          <a:prstGeom prst="rect">
            <a:avLst/>
          </a:prstGeom>
          <a:solidFill>
            <a:srgbClr val="FFFFFF"/>
          </a:solidFill>
          <a:ln>
            <a:solidFill>
              <a:srgbClr val="FFFFFF"/>
            </a:solidFill>
          </a:ln>
        </p:spPr>
        <p:txBody>
          <a:bodyPr wrap="square" lIns="0" tIns="0" rIns="0" bIns="0" rtlCol="0" anchor="ctr"/>
          <a:lstStyle/>
          <a:p>
            <a:pPr marL="0" indent="0" algn="ctr">
              <a:spcBef>
                <a:spcPts val="0"/>
              </a:spcBef>
              <a:spcAft>
                <a:spcPts val="0"/>
              </a:spcAft>
              <a:buNone/>
            </a:pPr>
            <a:r>
              <a:rPr lang="en-US" sz="2400" b="1" i="0" u="none" dirty="0">
                <a:solidFill>
                  <a:srgbClr val="000000"/>
                </a:solidFill>
                <a:latin typeface="Times New Roman" panose="02020603050405020304" pitchFamily="18" charset="0"/>
                <a:ea typeface="Cambria" pitchFamily="34" charset="-122"/>
                <a:cs typeface="Times New Roman" panose="02020603050405020304" pitchFamily="18" charset="0"/>
              </a:rPr>
              <a:t>Sequence Diagram</a:t>
            </a:r>
            <a:endParaRPr lang="en-US" sz="2400" b="1" dirty="0">
              <a:latin typeface="Times New Roman" panose="02020603050405020304" pitchFamily="18" charset="0"/>
              <a:cs typeface="Times New Roman" panose="02020603050405020304" pitchFamily="18" charset="0"/>
            </a:endParaRPr>
          </a:p>
        </p:txBody>
      </p:sp>
      <p:sp>
        <p:nvSpPr>
          <p:cNvPr id="3" name="Text 1"/>
          <p:cNvSpPr txBox="1"/>
          <p:nvPr/>
        </p:nvSpPr>
        <p:spPr>
          <a:xfrm>
            <a:off x="8748065" y="6858000"/>
            <a:ext cx="457200" cy="27432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Arial" pitchFamily="34" charset="0"/>
                <a:ea typeface="Calibri" pitchFamily="34" charset="-122"/>
                <a:cs typeface="Calibri" pitchFamily="34" charset="-120"/>
              </a:rPr>
              <a:t>16</a:t>
            </a:r>
            <a:endParaRPr lang="en-US" sz="1100" dirty="0"/>
          </a:p>
        </p:txBody>
      </p:sp>
      <p:pic>
        <p:nvPicPr>
          <p:cNvPr id="4" name="Image 0" descr="/home/claude/img/seq.png"/>
          <p:cNvPicPr>
            <a:picLocks noChangeAspect="1"/>
          </p:cNvPicPr>
          <p:nvPr/>
        </p:nvPicPr>
        <p:blipFill>
          <a:blip r:embed="rId3"/>
          <a:stretch>
            <a:fillRect/>
          </a:stretch>
        </p:blipFill>
        <p:spPr>
          <a:xfrm>
            <a:off x="2320332" y="1099929"/>
            <a:ext cx="5112936" cy="575807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656625" cy="822960"/>
          </a:xfrm>
          <a:prstGeom prst="rect">
            <a:avLst/>
          </a:prstGeom>
          <a:solidFill>
            <a:srgbClr val="FFFFFF"/>
          </a:solidFill>
          <a:ln>
            <a:solidFill>
              <a:srgbClr val="FFFFFF"/>
            </a:solidFill>
          </a:ln>
        </p:spPr>
        <p:txBody>
          <a:bodyPr wrap="square" lIns="0" tIns="0" rIns="0" bIns="0" rtlCol="0" anchor="ctr"/>
          <a:lstStyle/>
          <a:p>
            <a:pPr marL="0" indent="0" algn="ctr">
              <a:spcBef>
                <a:spcPts val="0"/>
              </a:spcBef>
              <a:spcAft>
                <a:spcPts val="0"/>
              </a:spcAft>
              <a:buNone/>
            </a:pPr>
            <a:r>
              <a:rPr lang="en-US" sz="2400" b="1" i="0" u="none" dirty="0">
                <a:solidFill>
                  <a:srgbClr val="000000"/>
                </a:solidFill>
                <a:latin typeface="Times New Roman" panose="02020603050405020304" pitchFamily="18" charset="0"/>
                <a:ea typeface="Cambria" pitchFamily="34" charset="-122"/>
                <a:cs typeface="Times New Roman" panose="02020603050405020304" pitchFamily="18" charset="0"/>
              </a:rPr>
              <a:t>Activity Diagram</a:t>
            </a:r>
            <a:endParaRPr lang="en-US" sz="2400" b="1" dirty="0">
              <a:latin typeface="Times New Roman" panose="02020603050405020304" pitchFamily="18" charset="0"/>
              <a:cs typeface="Times New Roman" panose="02020603050405020304" pitchFamily="18" charset="0"/>
            </a:endParaRPr>
          </a:p>
        </p:txBody>
      </p:sp>
      <p:sp>
        <p:nvSpPr>
          <p:cNvPr id="3" name="Text 1"/>
          <p:cNvSpPr txBox="1"/>
          <p:nvPr/>
        </p:nvSpPr>
        <p:spPr>
          <a:xfrm>
            <a:off x="8748065" y="6858000"/>
            <a:ext cx="457200" cy="27432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Arial" pitchFamily="34" charset="0"/>
                <a:ea typeface="Calibri" pitchFamily="34" charset="-122"/>
                <a:cs typeface="Calibri" pitchFamily="34" charset="-120"/>
              </a:rPr>
              <a:t>18</a:t>
            </a:r>
            <a:endParaRPr lang="en-US" sz="1100" dirty="0"/>
          </a:p>
        </p:txBody>
      </p:sp>
      <p:pic>
        <p:nvPicPr>
          <p:cNvPr id="4" name="Image 0" descr="/home/claude/img/activity.png"/>
          <p:cNvPicPr>
            <a:picLocks noChangeAspect="1"/>
          </p:cNvPicPr>
          <p:nvPr/>
        </p:nvPicPr>
        <p:blipFill>
          <a:blip r:embed="rId3"/>
          <a:stretch>
            <a:fillRect/>
          </a:stretch>
        </p:blipFill>
        <p:spPr>
          <a:xfrm>
            <a:off x="2650688" y="1188720"/>
            <a:ext cx="4452223" cy="53949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656625" cy="82296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sz="2400" b="1" i="0" u="none" dirty="0">
                <a:solidFill>
                  <a:srgbClr val="000000"/>
                </a:solidFill>
                <a:latin typeface="Times New Roman" panose="02020603050405020304" pitchFamily="18" charset="0"/>
                <a:ea typeface="Cambria" pitchFamily="34" charset="-122"/>
                <a:cs typeface="Times New Roman" panose="02020603050405020304" pitchFamily="18" charset="0"/>
              </a:rPr>
              <a:t>Algorithm: Haversine Formula</a:t>
            </a:r>
            <a:endParaRPr lang="en-US" sz="2400" b="1" dirty="0">
              <a:latin typeface="Times New Roman" panose="02020603050405020304" pitchFamily="18" charset="0"/>
              <a:cs typeface="Times New Roman" panose="02020603050405020304" pitchFamily="18" charset="0"/>
            </a:endParaRPr>
          </a:p>
        </p:txBody>
      </p:sp>
      <p:sp>
        <p:nvSpPr>
          <p:cNvPr id="3" name="Text 1"/>
          <p:cNvSpPr txBox="1"/>
          <p:nvPr/>
        </p:nvSpPr>
        <p:spPr>
          <a:xfrm>
            <a:off x="8748065" y="6858000"/>
            <a:ext cx="457200" cy="27432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Arial" pitchFamily="34" charset="0"/>
                <a:ea typeface="Calibri" pitchFamily="34" charset="-122"/>
                <a:cs typeface="Calibri" pitchFamily="34" charset="-120"/>
              </a:rPr>
              <a:t>19</a:t>
            </a:r>
            <a:endParaRPr lang="en-US" sz="1100" dirty="0"/>
          </a:p>
        </p:txBody>
      </p:sp>
      <p:sp>
        <p:nvSpPr>
          <p:cNvPr id="6" name="Text 4"/>
          <p:cNvSpPr txBox="1"/>
          <p:nvPr/>
        </p:nvSpPr>
        <p:spPr>
          <a:xfrm>
            <a:off x="548335" y="1188720"/>
            <a:ext cx="4085863" cy="1107697"/>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Arial" pitchFamily="34" charset="0"/>
                <a:ea typeface="Courier New" pitchFamily="34" charset="-122"/>
                <a:cs typeface="Courier New" pitchFamily="34" charset="-120"/>
              </a:rPr>
              <a:t>a = sin²(Δφ/2) + cos(φ1) · cos(φ2) · sin²(Δλ/2)</a:t>
            </a:r>
            <a:endParaRPr lang="en-US" sz="1700" dirty="0"/>
          </a:p>
          <a:p>
            <a:pPr marL="0" indent="0" algn="l">
              <a:spcBef>
                <a:spcPts val="0"/>
              </a:spcBef>
              <a:spcAft>
                <a:spcPts val="0"/>
              </a:spcAft>
              <a:buNone/>
            </a:pPr>
            <a:r>
              <a:rPr lang="en-US" b="0" i="0" u="none" dirty="0">
                <a:solidFill>
                  <a:srgbClr val="000000"/>
                </a:solidFill>
                <a:latin typeface="Arial" pitchFamily="34" charset="0"/>
                <a:ea typeface="Courier New" pitchFamily="34" charset="-122"/>
                <a:cs typeface="Courier New" pitchFamily="34" charset="-120"/>
              </a:rPr>
              <a:t>c = 2 · atan2(√a, √(1−a))</a:t>
            </a:r>
            <a:endParaRPr lang="en-US" sz="1700" dirty="0"/>
          </a:p>
          <a:p>
            <a:pPr marL="0" indent="0" algn="l">
              <a:spcBef>
                <a:spcPts val="0"/>
              </a:spcBef>
              <a:spcAft>
                <a:spcPts val="0"/>
              </a:spcAft>
              <a:buNone/>
            </a:pPr>
            <a:r>
              <a:rPr lang="en-US" b="0" i="0" u="none" dirty="0">
                <a:solidFill>
                  <a:srgbClr val="000000"/>
                </a:solidFill>
                <a:latin typeface="Arial" pitchFamily="34" charset="0"/>
                <a:ea typeface="Courier New" pitchFamily="34" charset="-122"/>
                <a:cs typeface="Courier New" pitchFamily="34" charset="-120"/>
              </a:rPr>
              <a:t>d = R · c        (R ≈ 6,371 km)</a:t>
            </a:r>
            <a:endParaRPr lang="en-US" sz="1700" dirty="0"/>
          </a:p>
        </p:txBody>
      </p:sp>
      <p:sp>
        <p:nvSpPr>
          <p:cNvPr id="23" name="Rectangle 1">
            <a:extLst>
              <a:ext uri="{FF2B5EF4-FFF2-40B4-BE49-F238E27FC236}">
                <a16:creationId xmlns:a16="http://schemas.microsoft.com/office/drawing/2014/main" id="{25A291D2-2141-FB43-AB41-50719C5F9825}"/>
              </a:ext>
            </a:extLst>
          </p:cNvPr>
          <p:cNvSpPr>
            <a:spLocks noChangeArrowheads="1"/>
          </p:cNvSpPr>
          <p:nvPr/>
        </p:nvSpPr>
        <p:spPr bwMode="auto">
          <a:xfrm>
            <a:off x="480583" y="2296417"/>
            <a:ext cx="8724682" cy="2535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Steps: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 Convert latitude and longitude of both points from degrees to radians.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 Compute the differences </a:t>
            </a:r>
            <a:r>
              <a:rPr kumimoji="0" lang="en-US" altLang="en-US"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Δφ</a:t>
            </a: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and </a:t>
            </a:r>
            <a:r>
              <a:rPr kumimoji="0" lang="en-US" altLang="en-US"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Δλ</a:t>
            </a: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3. Apply the haversine formula to compute a.</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 Compute the angular distance c using atan2.</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 Multiply by Earth's radius to get the distance d in kilometers.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4" name="AutoShape 2" descr="Attachment.tiff">
            <a:extLst>
              <a:ext uri="{FF2B5EF4-FFF2-40B4-BE49-F238E27FC236}">
                <a16:creationId xmlns:a16="http://schemas.microsoft.com/office/drawing/2014/main" id="{6128AA2A-6E0D-3B4A-9D4C-1F9164384FCF}"/>
              </a:ext>
            </a:extLst>
          </p:cNvPr>
          <p:cNvSpPr>
            <a:spLocks noChangeAspect="1" noChangeArrowheads="1"/>
          </p:cNvSpPr>
          <p:nvPr/>
        </p:nvSpPr>
        <p:spPr bwMode="auto">
          <a:xfrm>
            <a:off x="57150" y="-2825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656625" cy="82296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Arial" pitchFamily="34" charset="0"/>
                <a:ea typeface="Cambria" pitchFamily="34" charset="-122"/>
                <a:cs typeface="Cambria" pitchFamily="34" charset="-120"/>
              </a:rPr>
              <a:t>Algorithm: DBSCAN</a:t>
            </a:r>
            <a:endParaRPr lang="en-US" sz="3600" dirty="0"/>
          </a:p>
        </p:txBody>
      </p:sp>
      <p:sp>
        <p:nvSpPr>
          <p:cNvPr id="3" name="Text 1"/>
          <p:cNvSpPr txBox="1"/>
          <p:nvPr/>
        </p:nvSpPr>
        <p:spPr>
          <a:xfrm>
            <a:off x="8748065" y="6858000"/>
            <a:ext cx="457200" cy="27432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Arial" pitchFamily="34" charset="0"/>
                <a:ea typeface="Calibri" pitchFamily="34" charset="-122"/>
                <a:cs typeface="Calibri" pitchFamily="34" charset="-120"/>
              </a:rPr>
              <a:t>20</a:t>
            </a:r>
            <a:endParaRPr lang="en-US" sz="1100" dirty="0"/>
          </a:p>
        </p:txBody>
      </p:sp>
      <p:sp>
        <p:nvSpPr>
          <p:cNvPr id="4" name="Text 2"/>
          <p:cNvSpPr txBox="1"/>
          <p:nvPr/>
        </p:nvSpPr>
        <p:spPr>
          <a:xfrm>
            <a:off x="548640" y="1371600"/>
            <a:ext cx="8656625" cy="82296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Arial" pitchFamily="34" charset="0"/>
                <a:ea typeface="Calibri" pitchFamily="34" charset="-122"/>
                <a:cs typeface="Calibri" pitchFamily="34" charset="-120"/>
              </a:rPr>
              <a:t>Finds violation hotspots, meaning areas with a high density of reports, without predefining the number of clusters.</a:t>
            </a:r>
            <a:endParaRPr lang="en-US" sz="1700" dirty="0"/>
          </a:p>
        </p:txBody>
      </p:sp>
      <p:sp>
        <p:nvSpPr>
          <p:cNvPr id="5" name="Shape 3"/>
          <p:cNvSpPr/>
          <p:nvPr/>
        </p:nvSpPr>
        <p:spPr>
          <a:xfrm>
            <a:off x="548640" y="2377440"/>
            <a:ext cx="2834640" cy="1371600"/>
          </a:xfrm>
          <a:prstGeom prst="roundRect">
            <a:avLst>
              <a:gd name="adj" fmla="val 6667"/>
            </a:avLst>
          </a:prstGeom>
          <a:solidFill>
            <a:srgbClr val="FFFFFF"/>
          </a:solidFill>
          <a:ln w="12700">
            <a:solidFill>
              <a:srgbClr val="FFFFFF"/>
            </a:solidFill>
            <a:prstDash val="solid"/>
          </a:ln>
        </p:spPr>
        <p:txBody>
          <a:bodyPr/>
          <a:lstStyle/>
          <a:p>
            <a:pPr algn="l">
              <a:spcBef>
                <a:spcPts val="0"/>
              </a:spcBef>
              <a:spcAft>
                <a:spcPts val="0"/>
              </a:spcAft>
            </a:pPr>
            <a:endParaRPr/>
          </a:p>
        </p:txBody>
      </p:sp>
      <p:sp>
        <p:nvSpPr>
          <p:cNvPr id="6" name="Text 4"/>
          <p:cNvSpPr txBox="1"/>
          <p:nvPr/>
        </p:nvSpPr>
        <p:spPr>
          <a:xfrm>
            <a:off x="777240" y="2377440"/>
            <a:ext cx="2377440" cy="137160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300"/>
              </a:spcAft>
              <a:buNone/>
            </a:pPr>
            <a:r>
              <a:rPr lang="en-US" b="1" i="0" u="none" dirty="0" sz="1800">
                <a:solidFill>
                  <a:srgbClr val="000000"/>
                </a:solidFill>
                <a:latin typeface="Arial" pitchFamily="34" charset="0"/>
                <a:ea typeface="Calibri" pitchFamily="34" charset="-122"/>
                <a:cs typeface="Calibri" pitchFamily="34" charset="-120"/>
              </a:rPr>
              <a:t>eps</a:t>
            </a:r>
            <a:endParaRPr lang="en-US" sz="1800" dirty="0"/>
          </a:p>
          <a:p>
            <a:pPr marL="171450" indent="-171450" algn="l">
              <a:spcBef>
                <a:spcPts val="0"/>
              </a:spcBef>
              <a:spcAft>
                <a:spcPts val="300"/>
              </a:spcAft>
              <a:buSzPct val="100000"/>
              <a:buChar char="•"/>
            </a:pPr>
            <a:r>
              <a:rPr lang="en-US" b="0" i="0" u="none" dirty="0" sz="1400">
                <a:solidFill>
                  <a:srgbClr val="000000"/>
                </a:solidFill>
                <a:latin typeface="Arial" pitchFamily="34" charset="0"/>
                <a:ea typeface="Calibri" pitchFamily="34" charset="-122"/>
                <a:cs typeface="Calibri" pitchFamily="34" charset="-120"/>
              </a:rPr>
              <a:t>Max Haversine distance for two points to be neighbors</a:t>
            </a:r>
            <a:endParaRPr lang="en-US" sz="1400" dirty="0"/>
          </a:p>
        </p:txBody>
      </p:sp>
      <p:sp>
        <p:nvSpPr>
          <p:cNvPr id="7" name="Shape 5"/>
          <p:cNvSpPr/>
          <p:nvPr/>
        </p:nvSpPr>
        <p:spPr>
          <a:xfrm>
            <a:off x="548640" y="3931920"/>
            <a:ext cx="2834640" cy="1371600"/>
          </a:xfrm>
          <a:prstGeom prst="roundRect">
            <a:avLst>
              <a:gd name="adj" fmla="val 6667"/>
            </a:avLst>
          </a:prstGeom>
          <a:solidFill>
            <a:srgbClr val="FFFFFF"/>
          </a:solidFill>
          <a:ln w="12700">
            <a:solidFill>
              <a:srgbClr val="FFFFFF"/>
            </a:solidFill>
            <a:prstDash val="solid"/>
          </a:ln>
        </p:spPr>
        <p:txBody>
          <a:bodyPr/>
          <a:lstStyle/>
          <a:p>
            <a:pPr algn="l">
              <a:spcBef>
                <a:spcPts val="0"/>
              </a:spcBef>
              <a:spcAft>
                <a:spcPts val="0"/>
              </a:spcAft>
            </a:pPr>
            <a:endParaRPr/>
          </a:p>
        </p:txBody>
      </p:sp>
      <p:sp>
        <p:nvSpPr>
          <p:cNvPr id="8" name="Text 6"/>
          <p:cNvSpPr txBox="1"/>
          <p:nvPr/>
        </p:nvSpPr>
        <p:spPr>
          <a:xfrm>
            <a:off x="777240" y="3931920"/>
            <a:ext cx="2377440" cy="137160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300"/>
              </a:spcAft>
              <a:buNone/>
            </a:pPr>
            <a:r>
              <a:rPr lang="en-US" b="1" i="0" u="none" dirty="0" sz="1800">
                <a:solidFill>
                  <a:srgbClr val="000000"/>
                </a:solidFill>
                <a:latin typeface="Arial" pitchFamily="34" charset="0"/>
                <a:ea typeface="Calibri" pitchFamily="34" charset="-122"/>
                <a:cs typeface="Calibri" pitchFamily="34" charset="-120"/>
              </a:rPr>
              <a:t>minPts</a:t>
            </a:r>
            <a:endParaRPr lang="en-US" sz="1800" dirty="0"/>
          </a:p>
          <a:p>
            <a:pPr marL="171450" indent="-171450" algn="l">
              <a:spcBef>
                <a:spcPts val="0"/>
              </a:spcBef>
              <a:spcAft>
                <a:spcPts val="300"/>
              </a:spcAft>
              <a:buSzPct val="100000"/>
              <a:buChar char="•"/>
            </a:pPr>
            <a:r>
              <a:rPr lang="en-US" b="0" i="0" u="none" dirty="0" sz="1400">
                <a:solidFill>
                  <a:srgbClr val="000000"/>
                </a:solidFill>
                <a:latin typeface="Arial" pitchFamily="34" charset="0"/>
                <a:ea typeface="Calibri" pitchFamily="34" charset="-122"/>
                <a:cs typeface="Calibri" pitchFamily="34" charset="-120"/>
              </a:rPr>
              <a:t>Minimum points needed to form a dense region</a:t>
            </a:r>
            <a:endParaRPr lang="en-US" sz="1400" dirty="0"/>
          </a:p>
        </p:txBody>
      </p:sp>
      <p:sp>
        <p:nvSpPr>
          <p:cNvPr id="9" name="Text 7"/>
          <p:cNvSpPr txBox="1"/>
          <p:nvPr/>
        </p:nvSpPr>
        <p:spPr>
          <a:xfrm>
            <a:off x="3749040" y="2377440"/>
            <a:ext cx="5486400" cy="3840480"/>
          </a:xfrm>
          <a:prstGeom prst="rect">
            <a:avLst/>
          </a:prstGeom>
          <a:solidFill>
            <a:srgbClr val="FFFFFF"/>
          </a:solidFill>
          <a:ln>
            <a:solidFill>
              <a:srgbClr val="FFFFFF"/>
            </a:solidFill>
          </a:ln>
        </p:spPr>
        <p:txBody>
          <a:bodyPr wrap="square" lIns="0" tIns="0" rIns="0" bIns="0" rtlCol="0" anchor="t"/>
          <a:lstStyle/>
          <a:p>
            <a:pPr marL="342900" indent="-342900" algn="l">
              <a:spcBef>
                <a:spcPts val="0"/>
              </a:spcBef>
              <a:spcAft>
                <a:spcPts val="300"/>
              </a:spcAft>
              <a:buSzPct val="100000"/>
              <a:buAutoNum type="arabicPeriod"/>
            </a:pPr>
            <a:r>
              <a:rPr lang="en-US" b="0" i="0" u="none" dirty="0" sz="1600">
                <a:solidFill>
                  <a:srgbClr val="000000"/>
                </a:solidFill>
                <a:latin typeface="Arial" pitchFamily="34" charset="0"/>
                <a:ea typeface="Calibri" pitchFamily="34" charset="-122"/>
                <a:cs typeface="Calibri" pitchFamily="34" charset="-120"/>
              </a:rPr>
              <a:t>Find each point’s neighbors within eps.</a:t>
            </a:r>
            <a:endParaRPr lang="en-US" sz="1600" dirty="0"/>
          </a:p>
          <a:p>
            <a:pPr marL="342900" indent="-342900" algn="l">
              <a:spcBef>
                <a:spcPts val="0"/>
              </a:spcBef>
              <a:spcAft>
                <a:spcPts val="300"/>
              </a:spcAft>
              <a:buSzPct val="100000"/>
              <a:buAutoNum type="arabicPeriod"/>
            </a:pPr>
            <a:r>
              <a:rPr lang="en-US" b="0" i="0" u="none" dirty="0" sz="1600">
                <a:solidFill>
                  <a:srgbClr val="000000"/>
                </a:solidFill>
                <a:latin typeface="Arial" pitchFamily="34" charset="0"/>
                <a:ea typeface="Calibri" pitchFamily="34" charset="-122"/>
                <a:cs typeface="Calibri" pitchFamily="34" charset="-120"/>
              </a:rPr>
              <a:t>If it has at least minPts neighbors, it is a core point and starts a cluster.</a:t>
            </a:r>
            <a:endParaRPr lang="en-US" sz="1600" dirty="0"/>
          </a:p>
          <a:p>
            <a:pPr marL="342900" indent="-342900" algn="l">
              <a:spcBef>
                <a:spcPts val="0"/>
              </a:spcBef>
              <a:spcAft>
                <a:spcPts val="300"/>
              </a:spcAft>
              <a:buSzPct val="100000"/>
              <a:buAutoNum type="arabicPeriod"/>
            </a:pPr>
            <a:r>
              <a:rPr lang="en-US" b="0" i="0" u="none" dirty="0" sz="1600">
                <a:solidFill>
                  <a:srgbClr val="000000"/>
                </a:solidFill>
                <a:latin typeface="Arial" pitchFamily="34" charset="0"/>
                <a:ea typeface="Calibri" pitchFamily="34" charset="-122"/>
                <a:cs typeface="Calibri" pitchFamily="34" charset="-120"/>
              </a:rPr>
              <a:t>Add all density-reachable points to the cluster.</a:t>
            </a:r>
            <a:endParaRPr lang="en-US" sz="1600" dirty="0"/>
          </a:p>
          <a:p>
            <a:pPr marL="342900" indent="-342900" algn="l">
              <a:spcBef>
                <a:spcPts val="0"/>
              </a:spcBef>
              <a:spcAft>
                <a:spcPts val="300"/>
              </a:spcAft>
              <a:buSzPct val="100000"/>
              <a:buAutoNum type="arabicPeriod"/>
            </a:pPr>
            <a:r>
              <a:rPr lang="en-US" b="0" i="0" u="none" dirty="0" sz="1600">
                <a:solidFill>
                  <a:srgbClr val="000000"/>
                </a:solidFill>
                <a:latin typeface="Arial" pitchFamily="34" charset="0"/>
                <a:ea typeface="Calibri" pitchFamily="34" charset="-122"/>
                <a:cs typeface="Calibri" pitchFamily="34" charset="-120"/>
              </a:rPr>
              <a:t>Points near a core point but with fewer neighbors are border points.</a:t>
            </a:r>
            <a:endParaRPr lang="en-US" sz="1600" dirty="0"/>
          </a:p>
          <a:p>
            <a:pPr marL="342900" indent="-342900" algn="l">
              <a:spcBef>
                <a:spcPts val="0"/>
              </a:spcBef>
              <a:spcAft>
                <a:spcPts val="300"/>
              </a:spcAft>
              <a:buSzPct val="100000"/>
              <a:buAutoNum type="arabicPeriod"/>
            </a:pPr>
            <a:r>
              <a:rPr lang="en-US" b="0" i="0" u="none" dirty="0" sz="1600">
                <a:solidFill>
                  <a:srgbClr val="000000"/>
                </a:solidFill>
                <a:latin typeface="Arial" pitchFamily="34" charset="0"/>
                <a:ea typeface="Calibri" pitchFamily="34" charset="-122"/>
                <a:cs typeface="Calibri" pitchFamily="34" charset="-120"/>
              </a:rPr>
              <a:t>All other points are noise, not part of any hotspot.</a:t>
            </a:r>
            <a:endParaRPr lang="en-US" sz="1600" dirty="0"/>
          </a:p>
          <a:p>
            <a:pPr marL="342900" indent="-342900" algn="l">
              <a:spcBef>
                <a:spcPts val="0"/>
              </a:spcBef>
              <a:spcAft>
                <a:spcPts val="300"/>
              </a:spcAft>
              <a:buSzPct val="100000"/>
              <a:buAutoNum type="arabicPeriod"/>
            </a:pPr>
            <a:r>
              <a:rPr lang="en-US" b="0" i="0" u="none" dirty="0" sz="1600">
                <a:solidFill>
                  <a:srgbClr val="000000"/>
                </a:solidFill>
                <a:latin typeface="Arial" pitchFamily="34" charset="0"/>
                <a:ea typeface="Calibri" pitchFamily="34" charset="-122"/>
                <a:cs typeface="Calibri" pitchFamily="34" charset="-120"/>
              </a:rPr>
              <a:t>Clusters are drawn on the admin map using Leaflet MarkerClusterGroup.</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656625" cy="82296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Arial" pitchFamily="34" charset="0"/>
                <a:ea typeface="Cambria" pitchFamily="34" charset="-122"/>
                <a:cs typeface="Cambria" pitchFamily="34" charset="-120"/>
              </a:rPr>
              <a:t>Tools Used</a:t>
            </a:r>
            <a:endParaRPr lang="en-US" sz="3600" dirty="0"/>
          </a:p>
        </p:txBody>
      </p:sp>
      <p:sp>
        <p:nvSpPr>
          <p:cNvPr id="3" name="Text 1"/>
          <p:cNvSpPr txBox="1"/>
          <p:nvPr/>
        </p:nvSpPr>
        <p:spPr>
          <a:xfrm>
            <a:off x="8748065" y="6858000"/>
            <a:ext cx="457200" cy="27432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Arial" pitchFamily="34" charset="0"/>
                <a:ea typeface="Calibri" pitchFamily="34" charset="-122"/>
                <a:cs typeface="Calibri" pitchFamily="34" charset="-120"/>
              </a:rPr>
              <a:t>22</a:t>
            </a:r>
            <a:endParaRPr lang="en-US" sz="1100" dirty="0"/>
          </a:p>
        </p:txBody>
      </p:sp>
      <p:sp>
        <p:nvSpPr>
          <p:cNvPr id="4" name="Shape 2"/>
          <p:cNvSpPr/>
          <p:nvPr/>
        </p:nvSpPr>
        <p:spPr>
          <a:xfrm>
            <a:off x="548640" y="1463040"/>
            <a:ext cx="4023360" cy="2423160"/>
          </a:xfrm>
          <a:prstGeom prst="roundRect">
            <a:avLst>
              <a:gd name="adj" fmla="val 4528"/>
            </a:avLst>
          </a:prstGeom>
          <a:solidFill>
            <a:srgbClr val="FFFFFF"/>
          </a:solidFill>
          <a:ln w="12700">
            <a:solidFill>
              <a:srgbClr val="FFFFFF"/>
            </a:solidFill>
            <a:prstDash val="solid"/>
          </a:ln>
        </p:spPr>
        <p:txBody>
          <a:bodyPr/>
          <a:lstStyle/>
          <a:p>
            <a:pPr algn="l">
              <a:spcBef>
                <a:spcPts val="0"/>
              </a:spcBef>
              <a:spcAft>
                <a:spcPts val="0"/>
              </a:spcAft>
            </a:pPr>
            <a:endParaRPr/>
          </a:p>
        </p:txBody>
      </p:sp>
      <p:sp>
        <p:nvSpPr>
          <p:cNvPr id="5" name="Shape 3"/>
          <p:cNvSpPr/>
          <p:nvPr/>
        </p:nvSpPr>
        <p:spPr>
          <a:xfrm>
            <a:off x="777240" y="1691640"/>
            <a:ext cx="640080" cy="640080"/>
          </a:xfrm>
          <a:prstGeom prst="ellipse">
            <a:avLst/>
          </a:prstGeom>
          <a:solidFill>
            <a:srgbClr val="FFFFFF"/>
          </a:solidFill>
          <a:ln w="12700">
            <a:solidFill>
              <a:srgbClr val="FFFFFF"/>
            </a:solidFill>
            <a:prstDash val="solid"/>
          </a:ln>
        </p:spPr>
        <p:txBody>
          <a:bodyPr/>
          <a:lstStyle/>
          <a:p>
            <a:pPr algn="l">
              <a:spcBef>
                <a:spcPts val="0"/>
              </a:spcBef>
              <a:spcAft>
                <a:spcPts val="0"/>
              </a:spcAft>
            </a:pPr>
            <a:endParaRPr/>
          </a:p>
        </p:txBody>
      </p:sp>
      <p:pic>
        <p:nvPicPr>
          <p:cNvPr id="6" name="Image 0" descr="preencoded.png"/>
          <p:cNvPicPr>
            <a:picLocks noChangeAspect="1"/>
          </p:cNvPicPr>
          <p:nvPr/>
        </p:nvPicPr>
        <p:blipFill>
          <a:blip r:embed="rId3"/>
          <a:stretch>
            <a:fillRect/>
          </a:stretch>
        </p:blipFill>
        <p:spPr>
          <a:xfrm>
            <a:off x="932688" y="1847088"/>
            <a:ext cx="329184" cy="329184"/>
          </a:xfrm>
          <a:prstGeom prst="rect">
            <a:avLst/>
          </a:prstGeom>
        </p:spPr>
      </p:pic>
      <p:sp>
        <p:nvSpPr>
          <p:cNvPr id="7" name="Text 4"/>
          <p:cNvSpPr txBox="1"/>
          <p:nvPr/>
        </p:nvSpPr>
        <p:spPr>
          <a:xfrm>
            <a:off x="1600200" y="1645920"/>
            <a:ext cx="2788920" cy="73152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Arial" pitchFamily="34" charset="0"/>
                <a:ea typeface="Cambria" pitchFamily="34" charset="-122"/>
                <a:cs typeface="Cambria" pitchFamily="34" charset="-120"/>
              </a:rPr>
              <a:t>Frontend</a:t>
            </a:r>
            <a:endParaRPr lang="en-US" sz="2000" dirty="0"/>
          </a:p>
        </p:txBody>
      </p:sp>
      <p:sp>
        <p:nvSpPr>
          <p:cNvPr id="8" name="Text 5"/>
          <p:cNvSpPr txBox="1"/>
          <p:nvPr/>
        </p:nvSpPr>
        <p:spPr>
          <a:xfrm>
            <a:off x="822960" y="2514600"/>
            <a:ext cx="3474720" cy="1280160"/>
          </a:xfrm>
          <a:prstGeom prst="rect">
            <a:avLst/>
          </a:prstGeom>
          <a:solidFill>
            <a:srgbClr val="FFFFFF"/>
          </a:solidFill>
          <a:ln>
            <a:solidFill>
              <a:srgbClr val="FFFFFF"/>
            </a:solidFill>
          </a:ln>
        </p:spPr>
        <p:txBody>
          <a:bodyPr wrap="square" lIns="0" tIns="0" rIns="0" bIns="0" rtlCol="0" anchor="t"/>
          <a:lstStyle/>
          <a:p>
            <a:pPr marL="342900" indent="-342900" algn="l">
              <a:spcBef>
                <a:spcPts val="0"/>
              </a:spcBef>
              <a:spcAft>
                <a:spcPts val="0"/>
              </a:spcAft>
              <a:buSzPct val="100000"/>
              <a:buChar char="•"/>
            </a:pPr>
            <a:r>
              <a:rPr lang="en-US" b="0" i="0" u="none" dirty="0">
                <a:solidFill>
                  <a:srgbClr val="000000"/>
                </a:solidFill>
                <a:latin typeface="Arial" pitchFamily="34" charset="0"/>
                <a:ea typeface="Calibri" pitchFamily="34" charset="-122"/>
                <a:cs typeface="Calibri" pitchFamily="34" charset="-120"/>
              </a:rPr>
              <a:t>React Native (Expo)</a:t>
            </a:r>
            <a:endParaRPr lang="en-US" sz="1400" dirty="0"/>
          </a:p>
          <a:p>
            <a:pPr marL="342900" indent="-342900" algn="l">
              <a:spcBef>
                <a:spcPts val="0"/>
              </a:spcBef>
              <a:spcAft>
                <a:spcPts val="0"/>
              </a:spcAft>
              <a:buSzPct val="100000"/>
              <a:buChar char="•"/>
            </a:pPr>
            <a:r>
              <a:rPr lang="en-US" b="0" i="0" u="none" dirty="0">
                <a:solidFill>
                  <a:srgbClr val="000000"/>
                </a:solidFill>
                <a:latin typeface="Arial" pitchFamily="34" charset="0"/>
                <a:ea typeface="Calibri" pitchFamily="34" charset="-122"/>
                <a:cs typeface="Calibri" pitchFamily="34" charset="-120"/>
              </a:rPr>
              <a:t>React.js + Vite</a:t>
            </a:r>
            <a:endParaRPr lang="en-US" sz="1400" dirty="0"/>
          </a:p>
          <a:p>
            <a:pPr marL="342900" indent="-342900" algn="l">
              <a:spcBef>
                <a:spcPts val="0"/>
              </a:spcBef>
              <a:spcAft>
                <a:spcPts val="0"/>
              </a:spcAft>
              <a:buSzPct val="100000"/>
              <a:buChar char="•"/>
            </a:pPr>
            <a:r>
              <a:rPr lang="en-US" b="0" i="0" u="none" dirty="0">
                <a:solidFill>
                  <a:srgbClr val="000000"/>
                </a:solidFill>
                <a:latin typeface="Arial" pitchFamily="34" charset="0"/>
                <a:ea typeface="Calibri" pitchFamily="34" charset="-122"/>
                <a:cs typeface="Calibri" pitchFamily="34" charset="-120"/>
              </a:rPr>
              <a:t>Redux Toolkit &amp; Redux Persist</a:t>
            </a:r>
            <a:endParaRPr lang="en-US" sz="1400" dirty="0"/>
          </a:p>
          <a:p>
            <a:pPr marL="342900" indent="-342900" algn="l">
              <a:spcBef>
                <a:spcPts val="0"/>
              </a:spcBef>
              <a:spcAft>
                <a:spcPts val="0"/>
              </a:spcAft>
              <a:buSzPct val="100000"/>
              <a:buChar char="•"/>
            </a:pPr>
            <a:r>
              <a:rPr lang="en-US" b="0" i="0" u="none" dirty="0">
                <a:solidFill>
                  <a:srgbClr val="000000"/>
                </a:solidFill>
                <a:latin typeface="Arial" pitchFamily="34" charset="0"/>
                <a:ea typeface="Calibri" pitchFamily="34" charset="-122"/>
                <a:cs typeface="Calibri" pitchFamily="34" charset="-120"/>
              </a:rPr>
              <a:t>Leaflet.js, Recharts</a:t>
            </a:r>
            <a:endParaRPr lang="en-US" sz="1400" dirty="0"/>
          </a:p>
        </p:txBody>
      </p:sp>
      <p:sp>
        <p:nvSpPr>
          <p:cNvPr id="9" name="Shape 6"/>
          <p:cNvSpPr/>
          <p:nvPr/>
        </p:nvSpPr>
        <p:spPr>
          <a:xfrm>
            <a:off x="4800600" y="1463040"/>
            <a:ext cx="4023360" cy="2423160"/>
          </a:xfrm>
          <a:prstGeom prst="roundRect">
            <a:avLst>
              <a:gd name="adj" fmla="val 4528"/>
            </a:avLst>
          </a:prstGeom>
          <a:solidFill>
            <a:srgbClr val="FFFFFF"/>
          </a:solidFill>
          <a:ln w="12700">
            <a:solidFill>
              <a:srgbClr val="FFFFFF"/>
            </a:solidFill>
            <a:prstDash val="solid"/>
          </a:ln>
        </p:spPr>
        <p:txBody>
          <a:bodyPr/>
          <a:lstStyle/>
          <a:p>
            <a:pPr algn="l">
              <a:spcBef>
                <a:spcPts val="0"/>
              </a:spcBef>
              <a:spcAft>
                <a:spcPts val="0"/>
              </a:spcAft>
            </a:pPr>
            <a:endParaRPr/>
          </a:p>
        </p:txBody>
      </p:sp>
      <p:sp>
        <p:nvSpPr>
          <p:cNvPr id="10" name="Shape 7"/>
          <p:cNvSpPr/>
          <p:nvPr/>
        </p:nvSpPr>
        <p:spPr>
          <a:xfrm>
            <a:off x="5029200" y="1691640"/>
            <a:ext cx="640080" cy="640080"/>
          </a:xfrm>
          <a:prstGeom prst="ellipse">
            <a:avLst/>
          </a:prstGeom>
          <a:solidFill>
            <a:srgbClr val="FFFFFF"/>
          </a:solidFill>
          <a:ln w="12700">
            <a:solidFill>
              <a:srgbClr val="FFFFFF"/>
            </a:solidFill>
            <a:prstDash val="solid"/>
          </a:ln>
        </p:spPr>
        <p:txBody>
          <a:bodyPr/>
          <a:lstStyle/>
          <a:p>
            <a:pPr algn="l">
              <a:spcBef>
                <a:spcPts val="0"/>
              </a:spcBef>
              <a:spcAft>
                <a:spcPts val="0"/>
              </a:spcAft>
            </a:pPr>
            <a:endParaRPr/>
          </a:p>
        </p:txBody>
      </p:sp>
      <p:pic>
        <p:nvPicPr>
          <p:cNvPr id="11" name="Image 1" descr="preencoded.png"/>
          <p:cNvPicPr>
            <a:picLocks noChangeAspect="1"/>
          </p:cNvPicPr>
          <p:nvPr/>
        </p:nvPicPr>
        <p:blipFill>
          <a:blip r:embed="rId4"/>
          <a:stretch>
            <a:fillRect/>
          </a:stretch>
        </p:blipFill>
        <p:spPr>
          <a:xfrm>
            <a:off x="5184648" y="1847088"/>
            <a:ext cx="329184" cy="329184"/>
          </a:xfrm>
          <a:prstGeom prst="rect">
            <a:avLst/>
          </a:prstGeom>
        </p:spPr>
      </p:pic>
      <p:sp>
        <p:nvSpPr>
          <p:cNvPr id="12" name="Text 8"/>
          <p:cNvSpPr txBox="1"/>
          <p:nvPr/>
        </p:nvSpPr>
        <p:spPr>
          <a:xfrm>
            <a:off x="5852160" y="1645920"/>
            <a:ext cx="2788920" cy="73152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Arial" pitchFamily="34" charset="0"/>
                <a:ea typeface="Cambria" pitchFamily="34" charset="-122"/>
                <a:cs typeface="Cambria" pitchFamily="34" charset="-120"/>
              </a:rPr>
              <a:t>Backend</a:t>
            </a:r>
            <a:endParaRPr lang="en-US" sz="2000" dirty="0"/>
          </a:p>
        </p:txBody>
      </p:sp>
      <p:sp>
        <p:nvSpPr>
          <p:cNvPr id="13" name="Text 9"/>
          <p:cNvSpPr txBox="1"/>
          <p:nvPr/>
        </p:nvSpPr>
        <p:spPr>
          <a:xfrm>
            <a:off x="5074920" y="2514600"/>
            <a:ext cx="3474720" cy="1280160"/>
          </a:xfrm>
          <a:prstGeom prst="rect">
            <a:avLst/>
          </a:prstGeom>
          <a:solidFill>
            <a:srgbClr val="FFFFFF"/>
          </a:solidFill>
          <a:ln>
            <a:solidFill>
              <a:srgbClr val="FFFFFF"/>
            </a:solidFill>
          </a:ln>
        </p:spPr>
        <p:txBody>
          <a:bodyPr wrap="square" lIns="0" tIns="0" rIns="0" bIns="0" rtlCol="0" anchor="t"/>
          <a:lstStyle/>
          <a:p>
            <a:pPr marL="342900" indent="-342900" algn="l">
              <a:spcBef>
                <a:spcPts val="0"/>
              </a:spcBef>
              <a:spcAft>
                <a:spcPts val="0"/>
              </a:spcAft>
              <a:buSzPct val="100000"/>
              <a:buChar char="•"/>
            </a:pPr>
            <a:r>
              <a:rPr lang="en-US" b="0" i="0" u="none" dirty="0">
                <a:solidFill>
                  <a:srgbClr val="000000"/>
                </a:solidFill>
                <a:latin typeface="Arial" pitchFamily="34" charset="0"/>
                <a:ea typeface="Calibri" pitchFamily="34" charset="-122"/>
                <a:cs typeface="Calibri" pitchFamily="34" charset="-120"/>
              </a:rPr>
              <a:t>Node.js, Express.js</a:t>
            </a:r>
            <a:endParaRPr lang="en-US" sz="1400" dirty="0"/>
          </a:p>
          <a:p>
            <a:pPr marL="342900" indent="-342900" algn="l">
              <a:spcBef>
                <a:spcPts val="0"/>
              </a:spcBef>
              <a:spcAft>
                <a:spcPts val="0"/>
              </a:spcAft>
              <a:buSzPct val="100000"/>
              <a:buChar char="•"/>
            </a:pPr>
            <a:r>
              <a:rPr lang="en-US" b="0" i="0" u="none" dirty="0">
                <a:solidFill>
                  <a:srgbClr val="000000"/>
                </a:solidFill>
                <a:latin typeface="Arial" pitchFamily="34" charset="0"/>
                <a:ea typeface="Calibri" pitchFamily="34" charset="-122"/>
                <a:cs typeface="Calibri" pitchFamily="34" charset="-120"/>
              </a:rPr>
              <a:t>TypeScript</a:t>
            </a:r>
            <a:endParaRPr lang="en-US" sz="1400" dirty="0"/>
          </a:p>
          <a:p>
            <a:pPr marL="342900" indent="-342900" algn="l">
              <a:spcBef>
                <a:spcPts val="0"/>
              </a:spcBef>
              <a:spcAft>
                <a:spcPts val="0"/>
              </a:spcAft>
              <a:buSzPct val="100000"/>
              <a:buChar char="•"/>
            </a:pPr>
            <a:r>
              <a:rPr lang="en-US" b="0" i="0" u="none" dirty="0">
                <a:solidFill>
                  <a:srgbClr val="000000"/>
                </a:solidFill>
                <a:latin typeface="Arial" pitchFamily="34" charset="0"/>
                <a:ea typeface="Calibri" pitchFamily="34" charset="-122"/>
                <a:cs typeface="Calibri" pitchFamily="34" charset="-120"/>
              </a:rPr>
              <a:t>MongoDB + Mongoose</a:t>
            </a:r>
            <a:endParaRPr lang="en-US" sz="1400" dirty="0"/>
          </a:p>
          <a:p>
            <a:pPr marL="342900" indent="-342900" algn="l">
              <a:spcBef>
                <a:spcPts val="0"/>
              </a:spcBef>
              <a:spcAft>
                <a:spcPts val="0"/>
              </a:spcAft>
              <a:buSzPct val="100000"/>
              <a:buChar char="•"/>
            </a:pPr>
            <a:r>
              <a:rPr lang="en-US" b="0" i="0" u="none" dirty="0">
                <a:solidFill>
                  <a:srgbClr val="000000"/>
                </a:solidFill>
                <a:latin typeface="Arial" pitchFamily="34" charset="0"/>
                <a:ea typeface="Calibri" pitchFamily="34" charset="-122"/>
                <a:cs typeface="Calibri" pitchFamily="34" charset="-120"/>
              </a:rPr>
              <a:t>Socket.io, Firebase FCM</a:t>
            </a:r>
            <a:endParaRPr lang="en-US" sz="1400" dirty="0"/>
          </a:p>
        </p:txBody>
      </p:sp>
      <p:sp>
        <p:nvSpPr>
          <p:cNvPr id="14" name="Shape 10"/>
          <p:cNvSpPr/>
          <p:nvPr/>
        </p:nvSpPr>
        <p:spPr>
          <a:xfrm>
            <a:off x="548640" y="4114800"/>
            <a:ext cx="4023360" cy="2423160"/>
          </a:xfrm>
          <a:prstGeom prst="roundRect">
            <a:avLst>
              <a:gd name="adj" fmla="val 4528"/>
            </a:avLst>
          </a:prstGeom>
          <a:solidFill>
            <a:srgbClr val="FFFFFF"/>
          </a:solidFill>
          <a:ln w="12700">
            <a:solidFill>
              <a:srgbClr val="FFFFFF"/>
            </a:solidFill>
            <a:prstDash val="solid"/>
          </a:ln>
        </p:spPr>
        <p:txBody>
          <a:bodyPr/>
          <a:lstStyle/>
          <a:p>
            <a:pPr algn="l">
              <a:spcBef>
                <a:spcPts val="0"/>
              </a:spcBef>
              <a:spcAft>
                <a:spcPts val="0"/>
              </a:spcAft>
            </a:pPr>
            <a:endParaRPr/>
          </a:p>
        </p:txBody>
      </p:sp>
      <p:sp>
        <p:nvSpPr>
          <p:cNvPr id="15" name="Shape 11"/>
          <p:cNvSpPr/>
          <p:nvPr/>
        </p:nvSpPr>
        <p:spPr>
          <a:xfrm>
            <a:off x="777240" y="4343400"/>
            <a:ext cx="640080" cy="640080"/>
          </a:xfrm>
          <a:prstGeom prst="ellipse">
            <a:avLst/>
          </a:prstGeom>
          <a:solidFill>
            <a:srgbClr val="FFFFFF"/>
          </a:solidFill>
          <a:ln w="12700">
            <a:solidFill>
              <a:srgbClr val="FFFFFF"/>
            </a:solidFill>
            <a:prstDash val="solid"/>
          </a:ln>
        </p:spPr>
        <p:txBody>
          <a:bodyPr/>
          <a:lstStyle/>
          <a:p>
            <a:pPr algn="l">
              <a:spcBef>
                <a:spcPts val="0"/>
              </a:spcBef>
              <a:spcAft>
                <a:spcPts val="0"/>
              </a:spcAft>
            </a:pPr>
            <a:endParaRPr/>
          </a:p>
        </p:txBody>
      </p:sp>
      <p:pic>
        <p:nvPicPr>
          <p:cNvPr id="16" name="Image 2" descr="preencoded.png"/>
          <p:cNvPicPr>
            <a:picLocks noChangeAspect="1"/>
          </p:cNvPicPr>
          <p:nvPr/>
        </p:nvPicPr>
        <p:blipFill>
          <a:blip r:embed="rId5"/>
          <a:stretch>
            <a:fillRect/>
          </a:stretch>
        </p:blipFill>
        <p:spPr>
          <a:xfrm>
            <a:off x="932688" y="4498848"/>
            <a:ext cx="329184" cy="329184"/>
          </a:xfrm>
          <a:prstGeom prst="rect">
            <a:avLst/>
          </a:prstGeom>
        </p:spPr>
      </p:pic>
      <p:sp>
        <p:nvSpPr>
          <p:cNvPr id="17" name="Text 12"/>
          <p:cNvSpPr txBox="1"/>
          <p:nvPr/>
        </p:nvSpPr>
        <p:spPr>
          <a:xfrm>
            <a:off x="1600200" y="4297680"/>
            <a:ext cx="2788920" cy="73152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Arial" pitchFamily="34" charset="0"/>
                <a:ea typeface="Cambria" pitchFamily="34" charset="-122"/>
                <a:cs typeface="Cambria" pitchFamily="34" charset="-120"/>
              </a:rPr>
              <a:t>ML / OCR</a:t>
            </a:r>
            <a:endParaRPr lang="en-US" sz="2000" dirty="0"/>
          </a:p>
        </p:txBody>
      </p:sp>
      <p:sp>
        <p:nvSpPr>
          <p:cNvPr id="18" name="Text 13"/>
          <p:cNvSpPr txBox="1"/>
          <p:nvPr/>
        </p:nvSpPr>
        <p:spPr>
          <a:xfrm>
            <a:off x="822960" y="5166360"/>
            <a:ext cx="3474720" cy="1280160"/>
          </a:xfrm>
          <a:prstGeom prst="rect">
            <a:avLst/>
          </a:prstGeom>
          <a:solidFill>
            <a:srgbClr val="FFFFFF"/>
          </a:solidFill>
          <a:ln>
            <a:solidFill>
              <a:srgbClr val="FFFFFF"/>
            </a:solidFill>
          </a:ln>
        </p:spPr>
        <p:txBody>
          <a:bodyPr wrap="square" lIns="0" tIns="0" rIns="0" bIns="0" rtlCol="0" anchor="t"/>
          <a:lstStyle/>
          <a:p>
            <a:pPr marL="342900" indent="-342900" algn="l">
              <a:spcBef>
                <a:spcPts val="0"/>
              </a:spcBef>
              <a:spcAft>
                <a:spcPts val="0"/>
              </a:spcAft>
              <a:buSzPct val="100000"/>
              <a:buChar char="•"/>
            </a:pPr>
            <a:r>
              <a:rPr lang="en-US" b="0" i="0" u="none" dirty="0">
                <a:solidFill>
                  <a:srgbClr val="000000"/>
                </a:solidFill>
                <a:latin typeface="Arial" pitchFamily="34" charset="0"/>
                <a:ea typeface="Calibri" pitchFamily="34" charset="-122"/>
                <a:cs typeface="Calibri" pitchFamily="34" charset="-120"/>
              </a:rPr>
              <a:t>Python</a:t>
            </a:r>
            <a:endParaRPr lang="en-US" sz="1400" dirty="0"/>
          </a:p>
          <a:p>
            <a:pPr marL="342900" indent="-342900" algn="l">
              <a:spcBef>
                <a:spcPts val="0"/>
              </a:spcBef>
              <a:spcAft>
                <a:spcPts val="0"/>
              </a:spcAft>
              <a:buSzPct val="100000"/>
              <a:buChar char="•"/>
            </a:pPr>
            <a:r>
              <a:rPr lang="en-US" b="0" i="0" u="none" dirty="0">
                <a:solidFill>
                  <a:srgbClr val="000000"/>
                </a:solidFill>
                <a:latin typeface="Arial" pitchFamily="34" charset="0"/>
                <a:ea typeface="Calibri" pitchFamily="34" charset="-122"/>
                <a:cs typeface="Calibri" pitchFamily="34" charset="-120"/>
              </a:rPr>
              <a:t>TensorFlow / Keras</a:t>
            </a:r>
            <a:endParaRPr lang="en-US" sz="1400" dirty="0"/>
          </a:p>
          <a:p>
            <a:pPr marL="342900" indent="-342900" algn="l">
              <a:spcBef>
                <a:spcPts val="0"/>
              </a:spcBef>
              <a:spcAft>
                <a:spcPts val="0"/>
              </a:spcAft>
              <a:buSzPct val="100000"/>
              <a:buChar char="•"/>
            </a:pPr>
            <a:r>
              <a:rPr lang="en-US" b="0" i="0" u="none" dirty="0">
                <a:solidFill>
                  <a:srgbClr val="000000"/>
                </a:solidFill>
                <a:latin typeface="Arial" pitchFamily="34" charset="0"/>
                <a:ea typeface="Calibri" pitchFamily="34" charset="-122"/>
                <a:cs typeface="Calibri" pitchFamily="34" charset="-120"/>
              </a:rPr>
              <a:t>OpenCV</a:t>
            </a:r>
            <a:endParaRPr lang="en-US" sz="1400" dirty="0"/>
          </a:p>
          <a:p>
            <a:pPr marL="342900" indent="-342900" algn="l">
              <a:spcBef>
                <a:spcPts val="0"/>
              </a:spcBef>
              <a:spcAft>
                <a:spcPts val="0"/>
              </a:spcAft>
              <a:buSzPct val="100000"/>
              <a:buChar char="•"/>
            </a:pPr>
            <a:r>
              <a:rPr lang="en-US" b="0" i="0" u="none" dirty="0">
                <a:solidFill>
                  <a:srgbClr val="000000"/>
                </a:solidFill>
                <a:latin typeface="Arial" pitchFamily="34" charset="0"/>
                <a:ea typeface="Calibri" pitchFamily="34" charset="-122"/>
                <a:cs typeface="Calibri" pitchFamily="34" charset="-120"/>
              </a:rPr>
              <a:t>NumPy</a:t>
            </a:r>
            <a:endParaRPr lang="en-US" sz="1400" dirty="0"/>
          </a:p>
        </p:txBody>
      </p:sp>
      <p:sp>
        <p:nvSpPr>
          <p:cNvPr id="19" name="Shape 14"/>
          <p:cNvSpPr/>
          <p:nvPr/>
        </p:nvSpPr>
        <p:spPr>
          <a:xfrm>
            <a:off x="4800600" y="4114800"/>
            <a:ext cx="4023360" cy="2423160"/>
          </a:xfrm>
          <a:prstGeom prst="roundRect">
            <a:avLst>
              <a:gd name="adj" fmla="val 4528"/>
            </a:avLst>
          </a:prstGeom>
          <a:solidFill>
            <a:srgbClr val="FFFFFF"/>
          </a:solidFill>
          <a:ln w="12700">
            <a:solidFill>
              <a:srgbClr val="FFFFFF"/>
            </a:solidFill>
            <a:prstDash val="solid"/>
          </a:ln>
        </p:spPr>
        <p:txBody>
          <a:bodyPr/>
          <a:lstStyle/>
          <a:p>
            <a:pPr algn="l">
              <a:spcBef>
                <a:spcPts val="0"/>
              </a:spcBef>
              <a:spcAft>
                <a:spcPts val="0"/>
              </a:spcAft>
            </a:pPr>
            <a:endParaRPr/>
          </a:p>
        </p:txBody>
      </p:sp>
      <p:sp>
        <p:nvSpPr>
          <p:cNvPr id="20" name="Shape 15"/>
          <p:cNvSpPr/>
          <p:nvPr/>
        </p:nvSpPr>
        <p:spPr>
          <a:xfrm>
            <a:off x="5029200" y="4343400"/>
            <a:ext cx="640080" cy="640080"/>
          </a:xfrm>
          <a:prstGeom prst="ellipse">
            <a:avLst/>
          </a:prstGeom>
          <a:solidFill>
            <a:srgbClr val="FFFFFF"/>
          </a:solidFill>
          <a:ln w="12700">
            <a:solidFill>
              <a:srgbClr val="FFFFFF"/>
            </a:solidFill>
            <a:prstDash val="solid"/>
          </a:ln>
        </p:spPr>
        <p:txBody>
          <a:bodyPr/>
          <a:lstStyle/>
          <a:p>
            <a:pPr algn="l">
              <a:spcBef>
                <a:spcPts val="0"/>
              </a:spcBef>
              <a:spcAft>
                <a:spcPts val="0"/>
              </a:spcAft>
            </a:pPr>
            <a:endParaRPr/>
          </a:p>
        </p:txBody>
      </p:sp>
      <p:pic>
        <p:nvPicPr>
          <p:cNvPr id="21" name="Image 3" descr="preencoded.png"/>
          <p:cNvPicPr>
            <a:picLocks noChangeAspect="1"/>
          </p:cNvPicPr>
          <p:nvPr/>
        </p:nvPicPr>
        <p:blipFill>
          <a:blip r:embed="rId6"/>
          <a:stretch>
            <a:fillRect/>
          </a:stretch>
        </p:blipFill>
        <p:spPr>
          <a:xfrm>
            <a:off x="5184648" y="4498848"/>
            <a:ext cx="329184" cy="329184"/>
          </a:xfrm>
          <a:prstGeom prst="rect">
            <a:avLst/>
          </a:prstGeom>
        </p:spPr>
      </p:pic>
      <p:sp>
        <p:nvSpPr>
          <p:cNvPr id="22" name="Text 16"/>
          <p:cNvSpPr txBox="1"/>
          <p:nvPr/>
        </p:nvSpPr>
        <p:spPr>
          <a:xfrm>
            <a:off x="5852160" y="4297680"/>
            <a:ext cx="2788920" cy="73152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Arial" pitchFamily="34" charset="0"/>
                <a:ea typeface="Cambria" pitchFamily="34" charset="-122"/>
                <a:cs typeface="Cambria" pitchFamily="34" charset="-120"/>
              </a:rPr>
              <a:t>Mapping</a:t>
            </a:r>
            <a:endParaRPr lang="en-US" sz="2000" dirty="0"/>
          </a:p>
        </p:txBody>
      </p:sp>
      <p:sp>
        <p:nvSpPr>
          <p:cNvPr id="23" name="Text 17"/>
          <p:cNvSpPr txBox="1"/>
          <p:nvPr/>
        </p:nvSpPr>
        <p:spPr>
          <a:xfrm>
            <a:off x="5074920" y="5166360"/>
            <a:ext cx="3474720" cy="1280160"/>
          </a:xfrm>
          <a:prstGeom prst="rect">
            <a:avLst/>
          </a:prstGeom>
          <a:solidFill>
            <a:srgbClr val="FFFFFF"/>
          </a:solidFill>
          <a:ln>
            <a:solidFill>
              <a:srgbClr val="FFFFFF"/>
            </a:solidFill>
          </a:ln>
        </p:spPr>
        <p:txBody>
          <a:bodyPr wrap="square" lIns="0" tIns="0" rIns="0" bIns="0" rtlCol="0" anchor="t"/>
          <a:lstStyle/>
          <a:p>
            <a:pPr marL="342900" indent="-342900" algn="l">
              <a:spcBef>
                <a:spcPts val="0"/>
              </a:spcBef>
              <a:spcAft>
                <a:spcPts val="0"/>
              </a:spcAft>
              <a:buSzPct val="100000"/>
              <a:buChar char="•"/>
            </a:pPr>
            <a:r>
              <a:rPr lang="en-US" b="0" i="0" u="none" dirty="0">
                <a:solidFill>
                  <a:srgbClr val="000000"/>
                </a:solidFill>
                <a:latin typeface="Arial" pitchFamily="34" charset="0"/>
                <a:ea typeface="Calibri" pitchFamily="34" charset="-122"/>
                <a:cs typeface="Calibri" pitchFamily="34" charset="-120"/>
              </a:rPr>
              <a:t>OpenStreetMap</a:t>
            </a:r>
            <a:endParaRPr lang="en-US" sz="1400" dirty="0"/>
          </a:p>
          <a:p>
            <a:pPr marL="342900" indent="-342900" algn="l">
              <a:spcBef>
                <a:spcPts val="0"/>
              </a:spcBef>
              <a:spcAft>
                <a:spcPts val="0"/>
              </a:spcAft>
              <a:buSzPct val="100000"/>
              <a:buChar char="•"/>
            </a:pPr>
            <a:r>
              <a:rPr lang="en-US" b="0" i="0" u="none" dirty="0">
                <a:solidFill>
                  <a:srgbClr val="000000"/>
                </a:solidFill>
                <a:latin typeface="Arial" pitchFamily="34" charset="0"/>
                <a:ea typeface="Calibri" pitchFamily="34" charset="-122"/>
                <a:cs typeface="Calibri" pitchFamily="34" charset="-120"/>
              </a:rPr>
              <a:t>Nominatim (geocoding)</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656625" cy="82296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Arial" pitchFamily="34" charset="0"/>
                <a:ea typeface="Cambria" pitchFamily="34" charset="-122"/>
                <a:cs typeface="Cambria" pitchFamily="34" charset="-120"/>
              </a:rPr>
              <a:t>Modules</a:t>
            </a:r>
            <a:endParaRPr lang="en-US" sz="3600" dirty="0"/>
          </a:p>
        </p:txBody>
      </p:sp>
      <p:sp>
        <p:nvSpPr>
          <p:cNvPr id="3" name="Text 1"/>
          <p:cNvSpPr txBox="1"/>
          <p:nvPr/>
        </p:nvSpPr>
        <p:spPr>
          <a:xfrm>
            <a:off x="8748065" y="6858000"/>
            <a:ext cx="457200" cy="27432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Arial" pitchFamily="34" charset="0"/>
                <a:ea typeface="Calibri" pitchFamily="34" charset="-122"/>
                <a:cs typeface="Calibri" pitchFamily="34" charset="-120"/>
              </a:rPr>
              <a:t>23</a:t>
            </a:r>
            <a:endParaRPr lang="en-US" sz="1100" dirty="0"/>
          </a:p>
        </p:txBody>
      </p:sp>
      <p:sp>
        <p:nvSpPr>
          <p:cNvPr id="4" name="Shape 2"/>
          <p:cNvSpPr/>
          <p:nvPr/>
        </p:nvSpPr>
        <p:spPr>
          <a:xfrm>
            <a:off x="548640" y="1417320"/>
            <a:ext cx="4023360" cy="1188720"/>
          </a:xfrm>
          <a:prstGeom prst="roundRect">
            <a:avLst>
              <a:gd name="adj" fmla="val 9231"/>
            </a:avLst>
          </a:prstGeom>
          <a:solidFill>
            <a:srgbClr val="FFFFFF"/>
          </a:solidFill>
          <a:ln w="12700">
            <a:solidFill>
              <a:srgbClr val="FFFFFF"/>
            </a:solidFill>
            <a:prstDash val="solid"/>
          </a:ln>
        </p:spPr>
        <p:txBody>
          <a:bodyPr/>
          <a:lstStyle/>
          <a:p>
            <a:pPr algn="l">
              <a:spcBef>
                <a:spcPts val="0"/>
              </a:spcBef>
              <a:spcAft>
                <a:spcPts val="0"/>
              </a:spcAft>
            </a:pPr>
            <a:endParaRPr/>
          </a:p>
        </p:txBody>
      </p:sp>
      <p:sp>
        <p:nvSpPr>
          <p:cNvPr id="5" name="Shape 3"/>
          <p:cNvSpPr/>
          <p:nvPr/>
        </p:nvSpPr>
        <p:spPr>
          <a:xfrm>
            <a:off x="777240" y="1645920"/>
            <a:ext cx="640080" cy="640080"/>
          </a:xfrm>
          <a:prstGeom prst="ellipse">
            <a:avLst/>
          </a:prstGeom>
          <a:solidFill>
            <a:srgbClr val="FFFFFF"/>
          </a:solidFill>
          <a:ln w="12700">
            <a:solidFill>
              <a:srgbClr val="FFFFFF"/>
            </a:solidFill>
            <a:prstDash val="solid"/>
          </a:ln>
        </p:spPr>
        <p:txBody>
          <a:bodyPr/>
          <a:lstStyle/>
          <a:p>
            <a:pPr algn="l">
              <a:spcBef>
                <a:spcPts val="0"/>
              </a:spcBef>
              <a:spcAft>
                <a:spcPts val="0"/>
              </a:spcAft>
            </a:pPr>
            <a:endParaRPr/>
          </a:p>
        </p:txBody>
      </p:sp>
      <p:pic>
        <p:nvPicPr>
          <p:cNvPr id="6" name="Image 0" descr="preencoded.png"/>
          <p:cNvPicPr>
            <a:picLocks noChangeAspect="1"/>
          </p:cNvPicPr>
          <p:nvPr/>
        </p:nvPicPr>
        <p:blipFill>
          <a:blip r:embed="rId3"/>
          <a:stretch>
            <a:fillRect/>
          </a:stretch>
        </p:blipFill>
        <p:spPr>
          <a:xfrm>
            <a:off x="932688" y="1801368"/>
            <a:ext cx="329184" cy="329184"/>
          </a:xfrm>
          <a:prstGeom prst="rect">
            <a:avLst/>
          </a:prstGeom>
        </p:spPr>
      </p:pic>
      <p:sp>
        <p:nvSpPr>
          <p:cNvPr id="7" name="Text 4"/>
          <p:cNvSpPr txBox="1"/>
          <p:nvPr/>
        </p:nvSpPr>
        <p:spPr>
          <a:xfrm>
            <a:off x="1600200" y="1545336"/>
            <a:ext cx="2788920" cy="32004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Arial" pitchFamily="34" charset="0"/>
                <a:ea typeface="Cambria" pitchFamily="34" charset="-122"/>
                <a:cs typeface="Cambria" pitchFamily="34" charset="-120"/>
              </a:rPr>
              <a:t>Authentication</a:t>
            </a:r>
            <a:endParaRPr lang="en-US" sz="1600" dirty="0"/>
          </a:p>
        </p:txBody>
      </p:sp>
      <p:sp>
        <p:nvSpPr>
          <p:cNvPr id="8" name="Text 5"/>
          <p:cNvSpPr txBox="1"/>
          <p:nvPr/>
        </p:nvSpPr>
        <p:spPr>
          <a:xfrm>
            <a:off x="1600200" y="1874520"/>
            <a:ext cx="2834640" cy="731520"/>
          </a:xfrm>
          <a:prstGeom prst="rect">
            <a:avLst/>
          </a:prstGeom>
          <a:solidFill>
            <a:srgbClr val="FFFFFF"/>
          </a:solidFill>
          <a:ln>
            <a:solidFill>
              <a:srgbClr val="FFFFFF"/>
            </a:solidFill>
          </a:ln>
        </p:spPr>
        <p:txBody>
          <a:bodyPr wrap="square" lIns="0" tIns="0" rIns="0" bIns="0" rtlCol="0" anchor="t"/>
          <a:lstStyle/>
          <a:p>
            <a:pPr marL="171450" indent="-171450" algn="l">
              <a:spcBef>
                <a:spcPts val="0"/>
              </a:spcBef>
              <a:spcAft>
                <a:spcPts val="300"/>
              </a:spcAft>
              <a:buSzPct val="100000"/>
              <a:buChar char="•"/>
            </a:pPr>
            <a:r>
              <a:rPr lang="en-US" b="0" i="0" u="none" dirty="0" sz="1100">
                <a:solidFill>
                  <a:srgbClr val="000000"/>
                </a:solidFill>
                <a:latin typeface="Arial" pitchFamily="34" charset="0"/>
                <a:ea typeface="Calibri" pitchFamily="34" charset="-122"/>
                <a:cs typeface="Calibri" pitchFamily="34" charset="-120"/>
              </a:rPr>
              <a:t>Sign up</a:t>
            </a:r>
            <a:endParaRPr lang="en-US" sz="1100" dirty="0"/>
          </a:p>
          <a:p>
            <a:pPr marL="171450" indent="-171450" algn="l">
              <a:spcBef>
                <a:spcPts val="0"/>
              </a:spcBef>
              <a:spcAft>
                <a:spcPts val="300"/>
              </a:spcAft>
              <a:buSzPct val="100000"/>
              <a:buChar char="•"/>
            </a:pPr>
            <a:r>
              <a:rPr lang="en-US" b="0" i="0" u="none" dirty="0" sz="1100">
                <a:solidFill>
                  <a:srgbClr val="000000"/>
                </a:solidFill>
                <a:latin typeface="Arial" pitchFamily="34" charset="0"/>
                <a:ea typeface="Calibri" pitchFamily="34" charset="-122"/>
                <a:cs typeface="Calibri" pitchFamily="34" charset="-120"/>
              </a:rPr>
              <a:t>JWT login</a:t>
            </a:r>
            <a:endParaRPr lang="en-US" sz="1100" dirty="0"/>
          </a:p>
          <a:p>
            <a:pPr marL="171450" indent="-171450" algn="l">
              <a:spcBef>
                <a:spcPts val="0"/>
              </a:spcBef>
              <a:spcAft>
                <a:spcPts val="300"/>
              </a:spcAft>
              <a:buSzPct val="100000"/>
              <a:buChar char="•"/>
            </a:pPr>
            <a:r>
              <a:rPr lang="en-US" b="0" i="0" u="none" dirty="0" sz="1100">
                <a:solidFill>
                  <a:srgbClr val="000000"/>
                </a:solidFill>
                <a:latin typeface="Arial" pitchFamily="34" charset="0"/>
                <a:ea typeface="Calibri" pitchFamily="34" charset="-122"/>
                <a:cs typeface="Calibri" pitchFamily="34" charset="-120"/>
              </a:rPr>
              <a:t>Role-based access</a:t>
            </a:r>
            <a:endParaRPr lang="en-US" sz="1100" dirty="0"/>
          </a:p>
        </p:txBody>
      </p:sp>
      <p:sp>
        <p:nvSpPr>
          <p:cNvPr id="9" name="Shape 6"/>
          <p:cNvSpPr/>
          <p:nvPr/>
        </p:nvSpPr>
        <p:spPr>
          <a:xfrm>
            <a:off x="4800600" y="1417320"/>
            <a:ext cx="4023360" cy="1188720"/>
          </a:xfrm>
          <a:prstGeom prst="roundRect">
            <a:avLst>
              <a:gd name="adj" fmla="val 9231"/>
            </a:avLst>
          </a:prstGeom>
          <a:solidFill>
            <a:srgbClr val="FFFFFF"/>
          </a:solidFill>
          <a:ln w="12700">
            <a:solidFill>
              <a:srgbClr val="FFFFFF"/>
            </a:solidFill>
            <a:prstDash val="solid"/>
          </a:ln>
        </p:spPr>
        <p:txBody>
          <a:bodyPr/>
          <a:lstStyle/>
          <a:p>
            <a:pPr algn="l">
              <a:spcBef>
                <a:spcPts val="0"/>
              </a:spcBef>
              <a:spcAft>
                <a:spcPts val="0"/>
              </a:spcAft>
            </a:pPr>
            <a:endParaRPr/>
          </a:p>
        </p:txBody>
      </p:sp>
      <p:sp>
        <p:nvSpPr>
          <p:cNvPr id="10" name="Shape 7"/>
          <p:cNvSpPr/>
          <p:nvPr/>
        </p:nvSpPr>
        <p:spPr>
          <a:xfrm>
            <a:off x="5029200" y="1645920"/>
            <a:ext cx="640080" cy="640080"/>
          </a:xfrm>
          <a:prstGeom prst="ellipse">
            <a:avLst/>
          </a:prstGeom>
          <a:solidFill>
            <a:srgbClr val="FFFFFF"/>
          </a:solidFill>
          <a:ln w="12700">
            <a:solidFill>
              <a:srgbClr val="FFFFFF"/>
            </a:solidFill>
            <a:prstDash val="solid"/>
          </a:ln>
        </p:spPr>
        <p:txBody>
          <a:bodyPr/>
          <a:lstStyle/>
          <a:p>
            <a:pPr algn="l">
              <a:spcBef>
                <a:spcPts val="0"/>
              </a:spcBef>
              <a:spcAft>
                <a:spcPts val="0"/>
              </a:spcAft>
            </a:pPr>
            <a:endParaRPr/>
          </a:p>
        </p:txBody>
      </p:sp>
      <p:pic>
        <p:nvPicPr>
          <p:cNvPr id="11" name="Image 1" descr="preencoded.png"/>
          <p:cNvPicPr>
            <a:picLocks noChangeAspect="1"/>
          </p:cNvPicPr>
          <p:nvPr/>
        </p:nvPicPr>
        <p:blipFill>
          <a:blip r:embed="rId4"/>
          <a:stretch>
            <a:fillRect/>
          </a:stretch>
        </p:blipFill>
        <p:spPr>
          <a:xfrm>
            <a:off x="5184648" y="1801368"/>
            <a:ext cx="329184" cy="329184"/>
          </a:xfrm>
          <a:prstGeom prst="rect">
            <a:avLst/>
          </a:prstGeom>
        </p:spPr>
      </p:pic>
      <p:sp>
        <p:nvSpPr>
          <p:cNvPr id="12" name="Text 8"/>
          <p:cNvSpPr txBox="1"/>
          <p:nvPr/>
        </p:nvSpPr>
        <p:spPr>
          <a:xfrm>
            <a:off x="5852160" y="1545336"/>
            <a:ext cx="2788920" cy="32004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Arial" pitchFamily="34" charset="0"/>
                <a:ea typeface="Cambria" pitchFamily="34" charset="-122"/>
                <a:cs typeface="Cambria" pitchFamily="34" charset="-120"/>
              </a:rPr>
              <a:t>Report Submission</a:t>
            </a:r>
            <a:endParaRPr lang="en-US" sz="1600" dirty="0"/>
          </a:p>
        </p:txBody>
      </p:sp>
      <p:sp>
        <p:nvSpPr>
          <p:cNvPr id="13" name="Text 9"/>
          <p:cNvSpPr txBox="1"/>
          <p:nvPr/>
        </p:nvSpPr>
        <p:spPr>
          <a:xfrm>
            <a:off x="5852160" y="1874520"/>
            <a:ext cx="2834640" cy="731520"/>
          </a:xfrm>
          <a:prstGeom prst="rect">
            <a:avLst/>
          </a:prstGeom>
          <a:solidFill>
            <a:srgbClr val="FFFFFF"/>
          </a:solidFill>
          <a:ln>
            <a:solidFill>
              <a:srgbClr val="FFFFFF"/>
            </a:solidFill>
          </a:ln>
        </p:spPr>
        <p:txBody>
          <a:bodyPr wrap="square" lIns="0" tIns="0" rIns="0" bIns="0" rtlCol="0" anchor="t"/>
          <a:lstStyle/>
          <a:p>
            <a:pPr marL="171450" indent="-171450" algn="l">
              <a:spcBef>
                <a:spcPts val="0"/>
              </a:spcBef>
              <a:spcAft>
                <a:spcPts val="300"/>
              </a:spcAft>
              <a:buSzPct val="100000"/>
              <a:buChar char="•"/>
            </a:pPr>
            <a:r>
              <a:rPr lang="en-US" b="0" i="0" u="none" dirty="0" sz="1100">
                <a:solidFill>
                  <a:srgbClr val="000000"/>
                </a:solidFill>
                <a:latin typeface="Arial" pitchFamily="34" charset="0"/>
                <a:ea typeface="Calibri" pitchFamily="34" charset="-122"/>
                <a:cs typeface="Calibri" pitchFamily="34" charset="-120"/>
              </a:rPr>
              <a:t>Photo</a:t>
            </a:r>
            <a:endParaRPr lang="en-US" sz="1100" dirty="0"/>
          </a:p>
          <a:p>
            <a:pPr marL="171450" indent="-171450" algn="l">
              <a:spcBef>
                <a:spcPts val="0"/>
              </a:spcBef>
              <a:spcAft>
                <a:spcPts val="300"/>
              </a:spcAft>
              <a:buSzPct val="100000"/>
              <a:buChar char="•"/>
            </a:pPr>
            <a:r>
              <a:rPr lang="en-US" b="0" i="0" u="none" dirty="0" sz="1100">
                <a:solidFill>
                  <a:srgbClr val="000000"/>
                </a:solidFill>
                <a:latin typeface="Arial" pitchFamily="34" charset="0"/>
                <a:ea typeface="Calibri" pitchFamily="34" charset="-122"/>
                <a:cs typeface="Calibri" pitchFamily="34" charset="-120"/>
              </a:rPr>
              <a:t>Violation type</a:t>
            </a:r>
            <a:endParaRPr lang="en-US" sz="1100" dirty="0"/>
          </a:p>
          <a:p>
            <a:pPr marL="171450" indent="-171450" algn="l">
              <a:spcBef>
                <a:spcPts val="0"/>
              </a:spcBef>
              <a:spcAft>
                <a:spcPts val="300"/>
              </a:spcAft>
              <a:buSzPct val="100000"/>
              <a:buChar char="•"/>
            </a:pPr>
            <a:r>
              <a:rPr lang="en-US" b="0" i="0" u="none" dirty="0" sz="1100">
                <a:solidFill>
                  <a:srgbClr val="000000"/>
                </a:solidFill>
                <a:latin typeface="Arial" pitchFamily="34" charset="0"/>
                <a:ea typeface="Calibri" pitchFamily="34" charset="-122"/>
                <a:cs typeface="Calibri" pitchFamily="34" charset="-120"/>
              </a:rPr>
              <a:t>Location</a:t>
            </a:r>
            <a:endParaRPr lang="en-US" sz="1100" dirty="0"/>
          </a:p>
        </p:txBody>
      </p:sp>
      <p:sp>
        <p:nvSpPr>
          <p:cNvPr id="14" name="Shape 10"/>
          <p:cNvSpPr/>
          <p:nvPr/>
        </p:nvSpPr>
        <p:spPr>
          <a:xfrm>
            <a:off x="548640" y="2743200"/>
            <a:ext cx="4023360" cy="1188720"/>
          </a:xfrm>
          <a:prstGeom prst="roundRect">
            <a:avLst>
              <a:gd name="adj" fmla="val 9231"/>
            </a:avLst>
          </a:prstGeom>
          <a:solidFill>
            <a:srgbClr val="FFFFFF"/>
          </a:solidFill>
          <a:ln w="12700">
            <a:solidFill>
              <a:srgbClr val="FFFFFF"/>
            </a:solidFill>
            <a:prstDash val="solid"/>
          </a:ln>
        </p:spPr>
        <p:txBody>
          <a:bodyPr/>
          <a:lstStyle/>
          <a:p>
            <a:pPr algn="l">
              <a:spcBef>
                <a:spcPts val="0"/>
              </a:spcBef>
              <a:spcAft>
                <a:spcPts val="0"/>
              </a:spcAft>
            </a:pPr>
            <a:endParaRPr/>
          </a:p>
        </p:txBody>
      </p:sp>
      <p:sp>
        <p:nvSpPr>
          <p:cNvPr id="15" name="Shape 11"/>
          <p:cNvSpPr/>
          <p:nvPr/>
        </p:nvSpPr>
        <p:spPr>
          <a:xfrm>
            <a:off x="777240" y="2971800"/>
            <a:ext cx="640080" cy="640080"/>
          </a:xfrm>
          <a:prstGeom prst="ellipse">
            <a:avLst/>
          </a:prstGeom>
          <a:solidFill>
            <a:srgbClr val="FFFFFF"/>
          </a:solidFill>
          <a:ln w="12700">
            <a:solidFill>
              <a:srgbClr val="FFFFFF"/>
            </a:solidFill>
            <a:prstDash val="solid"/>
          </a:ln>
        </p:spPr>
        <p:txBody>
          <a:bodyPr/>
          <a:lstStyle/>
          <a:p>
            <a:pPr algn="l">
              <a:spcBef>
                <a:spcPts val="0"/>
              </a:spcBef>
              <a:spcAft>
                <a:spcPts val="0"/>
              </a:spcAft>
            </a:pPr>
            <a:endParaRPr/>
          </a:p>
        </p:txBody>
      </p:sp>
      <p:pic>
        <p:nvPicPr>
          <p:cNvPr id="16" name="Image 2" descr="preencoded.png"/>
          <p:cNvPicPr>
            <a:picLocks noChangeAspect="1"/>
          </p:cNvPicPr>
          <p:nvPr/>
        </p:nvPicPr>
        <p:blipFill>
          <a:blip r:embed="rId5"/>
          <a:stretch>
            <a:fillRect/>
          </a:stretch>
        </p:blipFill>
        <p:spPr>
          <a:xfrm>
            <a:off x="932688" y="3127248"/>
            <a:ext cx="329184" cy="329184"/>
          </a:xfrm>
          <a:prstGeom prst="rect">
            <a:avLst/>
          </a:prstGeom>
        </p:spPr>
      </p:pic>
      <p:sp>
        <p:nvSpPr>
          <p:cNvPr id="17" name="Text 12"/>
          <p:cNvSpPr txBox="1"/>
          <p:nvPr/>
        </p:nvSpPr>
        <p:spPr>
          <a:xfrm>
            <a:off x="1600200" y="2871216"/>
            <a:ext cx="2788920" cy="32004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Arial" pitchFamily="34" charset="0"/>
                <a:ea typeface="Cambria" pitchFamily="34" charset="-122"/>
                <a:cs typeface="Cambria" pitchFamily="34" charset="-120"/>
              </a:rPr>
              <a:t>OCR &amp; Plate Recognition</a:t>
            </a:r>
            <a:endParaRPr lang="en-US" sz="1600" dirty="0"/>
          </a:p>
        </p:txBody>
      </p:sp>
      <p:sp>
        <p:nvSpPr>
          <p:cNvPr id="18" name="Text 13"/>
          <p:cNvSpPr txBox="1"/>
          <p:nvPr/>
        </p:nvSpPr>
        <p:spPr>
          <a:xfrm>
            <a:off x="1600200" y="3200400"/>
            <a:ext cx="2834640" cy="731520"/>
          </a:xfrm>
          <a:prstGeom prst="rect">
            <a:avLst/>
          </a:prstGeom>
          <a:solidFill>
            <a:srgbClr val="FFFFFF"/>
          </a:solidFill>
          <a:ln>
            <a:solidFill>
              <a:srgbClr val="FFFFFF"/>
            </a:solidFill>
          </a:ln>
        </p:spPr>
        <p:txBody>
          <a:bodyPr wrap="square" lIns="0" tIns="0" rIns="0" bIns="0" rtlCol="0" anchor="t"/>
          <a:lstStyle/>
          <a:p>
            <a:pPr marL="171450" indent="-171450" algn="l">
              <a:spcBef>
                <a:spcPts val="0"/>
              </a:spcBef>
              <a:spcAft>
                <a:spcPts val="300"/>
              </a:spcAft>
              <a:buSzPct val="100000"/>
              <a:buAutoNum type="arabicPeriod"/>
            </a:pPr>
            <a:r>
              <a:rPr lang="en-US" b="0" i="0" u="none" dirty="0" sz="1100">
                <a:solidFill>
                  <a:srgbClr val="000000"/>
                </a:solidFill>
                <a:latin typeface="Arial" pitchFamily="34" charset="0"/>
                <a:ea typeface="Calibri" pitchFamily="34" charset="-122"/>
                <a:cs typeface="Calibri" pitchFamily="34" charset="-120"/>
              </a:rPr>
              <a:t>Preprocess</a:t>
            </a:r>
            <a:endParaRPr lang="en-US" sz="1100" dirty="0"/>
          </a:p>
          <a:p>
            <a:pPr marL="171450" indent="-171450" algn="l">
              <a:spcBef>
                <a:spcPts val="0"/>
              </a:spcBef>
              <a:spcAft>
                <a:spcPts val="300"/>
              </a:spcAft>
              <a:buSzPct val="100000"/>
              <a:buAutoNum type="arabicPeriod"/>
            </a:pPr>
            <a:r>
              <a:rPr lang="en-US" b="0" i="0" u="none" dirty="0" sz="1100">
                <a:solidFill>
                  <a:srgbClr val="000000"/>
                </a:solidFill>
                <a:latin typeface="Arial" pitchFamily="34" charset="0"/>
                <a:ea typeface="Calibri" pitchFamily="34" charset="-122"/>
                <a:cs typeface="Calibri" pitchFamily="34" charset="-120"/>
              </a:rPr>
              <a:t>Localize</a:t>
            </a:r>
            <a:endParaRPr lang="en-US" sz="1100" dirty="0"/>
          </a:p>
          <a:p>
            <a:pPr marL="171450" indent="-171450" algn="l">
              <a:spcBef>
                <a:spcPts val="0"/>
              </a:spcBef>
              <a:spcAft>
                <a:spcPts val="300"/>
              </a:spcAft>
              <a:buSzPct val="100000"/>
              <a:buAutoNum type="arabicPeriod"/>
            </a:pPr>
            <a:r>
              <a:rPr lang="en-US" b="0" i="0" u="none" dirty="0" sz="1100">
                <a:solidFill>
                  <a:srgbClr val="000000"/>
                </a:solidFill>
                <a:latin typeface="Arial" pitchFamily="34" charset="0"/>
                <a:ea typeface="Calibri" pitchFamily="34" charset="-122"/>
                <a:cs typeface="Calibri" pitchFamily="34" charset="-120"/>
              </a:rPr>
              <a:t>Segment</a:t>
            </a:r>
            <a:endParaRPr lang="en-US" sz="1100" dirty="0"/>
          </a:p>
          <a:p>
            <a:pPr marL="171450" indent="-171450" algn="l">
              <a:spcBef>
                <a:spcPts val="0"/>
              </a:spcBef>
              <a:spcAft>
                <a:spcPts val="300"/>
              </a:spcAft>
              <a:buSzPct val="100000"/>
              <a:buAutoNum type="arabicPeriod"/>
            </a:pPr>
            <a:r>
              <a:rPr lang="en-US" b="0" i="0" u="none" dirty="0" sz="1100">
                <a:solidFill>
                  <a:srgbClr val="000000"/>
                </a:solidFill>
                <a:latin typeface="Arial" pitchFamily="34" charset="0"/>
                <a:ea typeface="Calibri" pitchFamily="34" charset="-122"/>
                <a:cs typeface="Calibri" pitchFamily="34" charset="-120"/>
              </a:rPr>
              <a:t>Classify</a:t>
            </a:r>
            <a:endParaRPr lang="en-US" sz="1100" dirty="0"/>
          </a:p>
        </p:txBody>
      </p:sp>
      <p:sp>
        <p:nvSpPr>
          <p:cNvPr id="19" name="Shape 14"/>
          <p:cNvSpPr/>
          <p:nvPr/>
        </p:nvSpPr>
        <p:spPr>
          <a:xfrm>
            <a:off x="4800600" y="2743200"/>
            <a:ext cx="4023360" cy="1188720"/>
          </a:xfrm>
          <a:prstGeom prst="roundRect">
            <a:avLst>
              <a:gd name="adj" fmla="val 9231"/>
            </a:avLst>
          </a:prstGeom>
          <a:solidFill>
            <a:srgbClr val="FFFFFF"/>
          </a:solidFill>
          <a:ln w="12700">
            <a:solidFill>
              <a:srgbClr val="FFFFFF"/>
            </a:solidFill>
            <a:prstDash val="solid"/>
          </a:ln>
        </p:spPr>
        <p:txBody>
          <a:bodyPr/>
          <a:lstStyle/>
          <a:p>
            <a:pPr algn="l">
              <a:spcBef>
                <a:spcPts val="0"/>
              </a:spcBef>
              <a:spcAft>
                <a:spcPts val="0"/>
              </a:spcAft>
            </a:pPr>
            <a:endParaRPr/>
          </a:p>
        </p:txBody>
      </p:sp>
      <p:sp>
        <p:nvSpPr>
          <p:cNvPr id="20" name="Shape 15"/>
          <p:cNvSpPr/>
          <p:nvPr/>
        </p:nvSpPr>
        <p:spPr>
          <a:xfrm>
            <a:off x="5029200" y="2971800"/>
            <a:ext cx="640080" cy="640080"/>
          </a:xfrm>
          <a:prstGeom prst="ellipse">
            <a:avLst/>
          </a:prstGeom>
          <a:solidFill>
            <a:srgbClr val="FFFFFF"/>
          </a:solidFill>
          <a:ln w="12700">
            <a:solidFill>
              <a:srgbClr val="FFFFFF"/>
            </a:solidFill>
            <a:prstDash val="solid"/>
          </a:ln>
        </p:spPr>
        <p:txBody>
          <a:bodyPr/>
          <a:lstStyle/>
          <a:p>
            <a:pPr algn="l">
              <a:spcBef>
                <a:spcPts val="0"/>
              </a:spcBef>
              <a:spcAft>
                <a:spcPts val="0"/>
              </a:spcAft>
            </a:pPr>
            <a:endParaRPr/>
          </a:p>
        </p:txBody>
      </p:sp>
      <p:pic>
        <p:nvPicPr>
          <p:cNvPr id="21" name="Image 3" descr="preencoded.png"/>
          <p:cNvPicPr>
            <a:picLocks noChangeAspect="1"/>
          </p:cNvPicPr>
          <p:nvPr/>
        </p:nvPicPr>
        <p:blipFill>
          <a:blip r:embed="rId6"/>
          <a:stretch>
            <a:fillRect/>
          </a:stretch>
        </p:blipFill>
        <p:spPr>
          <a:xfrm>
            <a:off x="5184648" y="3127248"/>
            <a:ext cx="329184" cy="329184"/>
          </a:xfrm>
          <a:prstGeom prst="rect">
            <a:avLst/>
          </a:prstGeom>
        </p:spPr>
      </p:pic>
      <p:sp>
        <p:nvSpPr>
          <p:cNvPr id="22" name="Text 16"/>
          <p:cNvSpPr txBox="1"/>
          <p:nvPr/>
        </p:nvSpPr>
        <p:spPr>
          <a:xfrm>
            <a:off x="5852160" y="2871216"/>
            <a:ext cx="2788920" cy="32004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Arial" pitchFamily="34" charset="0"/>
                <a:ea typeface="Cambria" pitchFamily="34" charset="-122"/>
                <a:cs typeface="Cambria" pitchFamily="34" charset="-120"/>
              </a:rPr>
              <a:t>Hotspot Detection</a:t>
            </a:r>
            <a:endParaRPr lang="en-US" sz="1600" dirty="0"/>
          </a:p>
        </p:txBody>
      </p:sp>
      <p:sp>
        <p:nvSpPr>
          <p:cNvPr id="23" name="Text 17"/>
          <p:cNvSpPr txBox="1"/>
          <p:nvPr/>
        </p:nvSpPr>
        <p:spPr>
          <a:xfrm>
            <a:off x="5852160" y="3200400"/>
            <a:ext cx="2834640" cy="731520"/>
          </a:xfrm>
          <a:prstGeom prst="rect">
            <a:avLst/>
          </a:prstGeom>
          <a:solidFill>
            <a:srgbClr val="FFFFFF"/>
          </a:solidFill>
          <a:ln>
            <a:solidFill>
              <a:srgbClr val="FFFFFF"/>
            </a:solidFill>
          </a:ln>
        </p:spPr>
        <p:txBody>
          <a:bodyPr wrap="square" lIns="0" tIns="0" rIns="0" bIns="0" rtlCol="0" anchor="t"/>
          <a:lstStyle/>
          <a:p>
            <a:pPr marL="171450" indent="-171450" algn="l">
              <a:spcBef>
                <a:spcPts val="0"/>
              </a:spcBef>
              <a:spcAft>
                <a:spcPts val="300"/>
              </a:spcAft>
              <a:buSzPct val="100000"/>
              <a:buChar char="•"/>
            </a:pPr>
            <a:r>
              <a:rPr lang="en-US" b="0" i="0" u="none" dirty="0" sz="1100">
                <a:solidFill>
                  <a:srgbClr val="000000"/>
                </a:solidFill>
                <a:latin typeface="Arial" pitchFamily="34" charset="0"/>
                <a:ea typeface="Calibri" pitchFamily="34" charset="-122"/>
                <a:cs typeface="Calibri" pitchFamily="34" charset="-120"/>
              </a:rPr>
              <a:t>Haversine</a:t>
            </a:r>
            <a:endParaRPr lang="en-US" sz="1100" dirty="0"/>
          </a:p>
          <a:p>
            <a:pPr marL="171450" indent="-171450" algn="l">
              <a:spcBef>
                <a:spcPts val="0"/>
              </a:spcBef>
              <a:spcAft>
                <a:spcPts val="300"/>
              </a:spcAft>
              <a:buSzPct val="100000"/>
              <a:buChar char="•"/>
            </a:pPr>
            <a:r>
              <a:rPr lang="en-US" b="0" i="0" u="none" dirty="0" sz="1100">
                <a:solidFill>
                  <a:srgbClr val="000000"/>
                </a:solidFill>
                <a:latin typeface="Arial" pitchFamily="34" charset="0"/>
                <a:ea typeface="Calibri" pitchFamily="34" charset="-122"/>
                <a:cs typeface="Calibri" pitchFamily="34" charset="-120"/>
              </a:rPr>
              <a:t>DBSCAN</a:t>
            </a:r>
            <a:endParaRPr lang="en-US" sz="1100" dirty="0"/>
          </a:p>
        </p:txBody>
      </p:sp>
      <p:sp>
        <p:nvSpPr>
          <p:cNvPr id="24" name="Shape 18"/>
          <p:cNvSpPr/>
          <p:nvPr/>
        </p:nvSpPr>
        <p:spPr>
          <a:xfrm>
            <a:off x="548640" y="4069080"/>
            <a:ext cx="4023360" cy="1188720"/>
          </a:xfrm>
          <a:prstGeom prst="roundRect">
            <a:avLst>
              <a:gd name="adj" fmla="val 9231"/>
            </a:avLst>
          </a:prstGeom>
          <a:solidFill>
            <a:srgbClr val="FFFFFF"/>
          </a:solidFill>
          <a:ln w="12700">
            <a:solidFill>
              <a:srgbClr val="FFFFFF"/>
            </a:solidFill>
            <a:prstDash val="solid"/>
          </a:ln>
        </p:spPr>
        <p:txBody>
          <a:bodyPr/>
          <a:lstStyle/>
          <a:p>
            <a:pPr algn="l">
              <a:spcBef>
                <a:spcPts val="0"/>
              </a:spcBef>
              <a:spcAft>
                <a:spcPts val="0"/>
              </a:spcAft>
            </a:pPr>
            <a:endParaRPr/>
          </a:p>
        </p:txBody>
      </p:sp>
      <p:sp>
        <p:nvSpPr>
          <p:cNvPr id="25" name="Shape 19"/>
          <p:cNvSpPr/>
          <p:nvPr/>
        </p:nvSpPr>
        <p:spPr>
          <a:xfrm>
            <a:off x="777240" y="4297680"/>
            <a:ext cx="640080" cy="640080"/>
          </a:xfrm>
          <a:prstGeom prst="ellipse">
            <a:avLst/>
          </a:prstGeom>
          <a:solidFill>
            <a:srgbClr val="FFFFFF"/>
          </a:solidFill>
          <a:ln w="12700">
            <a:solidFill>
              <a:srgbClr val="FFFFFF"/>
            </a:solidFill>
            <a:prstDash val="solid"/>
          </a:ln>
        </p:spPr>
        <p:txBody>
          <a:bodyPr/>
          <a:lstStyle/>
          <a:p>
            <a:pPr algn="l">
              <a:spcBef>
                <a:spcPts val="0"/>
              </a:spcBef>
              <a:spcAft>
                <a:spcPts val="0"/>
              </a:spcAft>
            </a:pPr>
            <a:endParaRPr/>
          </a:p>
        </p:txBody>
      </p:sp>
      <p:pic>
        <p:nvPicPr>
          <p:cNvPr id="26" name="Image 4" descr="preencoded.png"/>
          <p:cNvPicPr>
            <a:picLocks noChangeAspect="1"/>
          </p:cNvPicPr>
          <p:nvPr/>
        </p:nvPicPr>
        <p:blipFill>
          <a:blip r:embed="rId7"/>
          <a:stretch>
            <a:fillRect/>
          </a:stretch>
        </p:blipFill>
        <p:spPr>
          <a:xfrm>
            <a:off x="932688" y="4453128"/>
            <a:ext cx="329184" cy="329184"/>
          </a:xfrm>
          <a:prstGeom prst="rect">
            <a:avLst/>
          </a:prstGeom>
        </p:spPr>
      </p:pic>
      <p:sp>
        <p:nvSpPr>
          <p:cNvPr id="27" name="Text 20"/>
          <p:cNvSpPr txBox="1"/>
          <p:nvPr/>
        </p:nvSpPr>
        <p:spPr>
          <a:xfrm>
            <a:off x="1600200" y="4197096"/>
            <a:ext cx="2788920" cy="32004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Arial" pitchFamily="34" charset="0"/>
                <a:ea typeface="Cambria" pitchFamily="34" charset="-122"/>
                <a:cs typeface="Cambria" pitchFamily="34" charset="-120"/>
              </a:rPr>
              <a:t>Repeat Offenders</a:t>
            </a:r>
            <a:endParaRPr lang="en-US" sz="1600" dirty="0"/>
          </a:p>
        </p:txBody>
      </p:sp>
      <p:sp>
        <p:nvSpPr>
          <p:cNvPr id="28" name="Text 21"/>
          <p:cNvSpPr txBox="1"/>
          <p:nvPr/>
        </p:nvSpPr>
        <p:spPr>
          <a:xfrm>
            <a:off x="1600200" y="4526280"/>
            <a:ext cx="2834640" cy="731520"/>
          </a:xfrm>
          <a:prstGeom prst="rect">
            <a:avLst/>
          </a:prstGeom>
          <a:solidFill>
            <a:srgbClr val="FFFFFF"/>
          </a:solidFill>
          <a:ln>
            <a:solidFill>
              <a:srgbClr val="FFFFFF"/>
            </a:solidFill>
          </a:ln>
        </p:spPr>
        <p:txBody>
          <a:bodyPr wrap="square" lIns="0" tIns="0" rIns="0" bIns="0" rtlCol="0" anchor="t"/>
          <a:lstStyle/>
          <a:p>
            <a:pPr marL="171450" indent="-171450" algn="l">
              <a:spcBef>
                <a:spcPts val="0"/>
              </a:spcBef>
              <a:spcAft>
                <a:spcPts val="300"/>
              </a:spcAft>
              <a:buSzPct val="100000"/>
              <a:buChar char="•"/>
            </a:pPr>
            <a:r>
              <a:rPr lang="en-US" b="0" i="0" u="none" dirty="0" sz="1100">
                <a:solidFill>
                  <a:srgbClr val="000000"/>
                </a:solidFill>
                <a:latin typeface="Arial" pitchFamily="34" charset="0"/>
                <a:ea typeface="Calibri" pitchFamily="34" charset="-122"/>
                <a:cs typeface="Calibri" pitchFamily="34" charset="-120"/>
              </a:rPr>
              <a:t>Levenshtein match</a:t>
            </a:r>
            <a:endParaRPr lang="en-US" sz="1100" dirty="0"/>
          </a:p>
          <a:p>
            <a:pPr marL="171450" indent="-171450" algn="l">
              <a:spcBef>
                <a:spcPts val="0"/>
              </a:spcBef>
              <a:spcAft>
                <a:spcPts val="300"/>
              </a:spcAft>
              <a:buSzPct val="100000"/>
              <a:buChar char="•"/>
            </a:pPr>
            <a:r>
              <a:rPr lang="en-US" b="0" i="0" u="none" dirty="0" sz="1100">
                <a:solidFill>
                  <a:srgbClr val="000000"/>
                </a:solidFill>
                <a:latin typeface="Arial" pitchFamily="34" charset="0"/>
                <a:ea typeface="Calibri" pitchFamily="34" charset="-122"/>
                <a:cs typeface="Calibri" pitchFamily="34" charset="-120"/>
              </a:rPr>
              <a:t>Priority score</a:t>
            </a:r>
            <a:endParaRPr lang="en-US" sz="1100" dirty="0"/>
          </a:p>
        </p:txBody>
      </p:sp>
      <p:sp>
        <p:nvSpPr>
          <p:cNvPr id="29" name="Shape 22"/>
          <p:cNvSpPr/>
          <p:nvPr/>
        </p:nvSpPr>
        <p:spPr>
          <a:xfrm>
            <a:off x="4800600" y="4069080"/>
            <a:ext cx="4023360" cy="1188720"/>
          </a:xfrm>
          <a:prstGeom prst="roundRect">
            <a:avLst>
              <a:gd name="adj" fmla="val 9231"/>
            </a:avLst>
          </a:prstGeom>
          <a:solidFill>
            <a:srgbClr val="FFFFFF"/>
          </a:solidFill>
          <a:ln w="12700">
            <a:solidFill>
              <a:srgbClr val="FFFFFF"/>
            </a:solidFill>
            <a:prstDash val="solid"/>
          </a:ln>
        </p:spPr>
        <p:txBody>
          <a:bodyPr/>
          <a:lstStyle/>
          <a:p>
            <a:pPr algn="l">
              <a:spcBef>
                <a:spcPts val="0"/>
              </a:spcBef>
              <a:spcAft>
                <a:spcPts val="0"/>
              </a:spcAft>
            </a:pPr>
            <a:endParaRPr/>
          </a:p>
        </p:txBody>
      </p:sp>
      <p:sp>
        <p:nvSpPr>
          <p:cNvPr id="30" name="Shape 23"/>
          <p:cNvSpPr/>
          <p:nvPr/>
        </p:nvSpPr>
        <p:spPr>
          <a:xfrm>
            <a:off x="5029200" y="4297680"/>
            <a:ext cx="640080" cy="640080"/>
          </a:xfrm>
          <a:prstGeom prst="ellipse">
            <a:avLst/>
          </a:prstGeom>
          <a:solidFill>
            <a:srgbClr val="FFFFFF"/>
          </a:solidFill>
          <a:ln w="12700">
            <a:solidFill>
              <a:srgbClr val="FFFFFF"/>
            </a:solidFill>
            <a:prstDash val="solid"/>
          </a:ln>
        </p:spPr>
        <p:txBody>
          <a:bodyPr/>
          <a:lstStyle/>
          <a:p>
            <a:pPr algn="l">
              <a:spcBef>
                <a:spcPts val="0"/>
              </a:spcBef>
              <a:spcAft>
                <a:spcPts val="0"/>
              </a:spcAft>
            </a:pPr>
            <a:endParaRPr/>
          </a:p>
        </p:txBody>
      </p:sp>
      <p:pic>
        <p:nvPicPr>
          <p:cNvPr id="31" name="Image 5" descr="preencoded.png"/>
          <p:cNvPicPr>
            <a:picLocks noChangeAspect="1"/>
          </p:cNvPicPr>
          <p:nvPr/>
        </p:nvPicPr>
        <p:blipFill>
          <a:blip r:embed="rId8"/>
          <a:stretch>
            <a:fillRect/>
          </a:stretch>
        </p:blipFill>
        <p:spPr>
          <a:xfrm>
            <a:off x="5184648" y="4453128"/>
            <a:ext cx="329184" cy="329184"/>
          </a:xfrm>
          <a:prstGeom prst="rect">
            <a:avLst/>
          </a:prstGeom>
        </p:spPr>
      </p:pic>
      <p:sp>
        <p:nvSpPr>
          <p:cNvPr id="32" name="Text 24"/>
          <p:cNvSpPr txBox="1"/>
          <p:nvPr/>
        </p:nvSpPr>
        <p:spPr>
          <a:xfrm>
            <a:off x="5852160" y="4197096"/>
            <a:ext cx="2788920" cy="32004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Arial" pitchFamily="34" charset="0"/>
                <a:ea typeface="Cambria" pitchFamily="34" charset="-122"/>
                <a:cs typeface="Cambria" pitchFamily="34" charset="-120"/>
              </a:rPr>
              <a:t>Notifications</a:t>
            </a:r>
            <a:endParaRPr lang="en-US" sz="1600" dirty="0"/>
          </a:p>
        </p:txBody>
      </p:sp>
      <p:sp>
        <p:nvSpPr>
          <p:cNvPr id="33" name="Text 25"/>
          <p:cNvSpPr txBox="1"/>
          <p:nvPr/>
        </p:nvSpPr>
        <p:spPr>
          <a:xfrm>
            <a:off x="5852160" y="4526280"/>
            <a:ext cx="2834640" cy="731520"/>
          </a:xfrm>
          <a:prstGeom prst="rect">
            <a:avLst/>
          </a:prstGeom>
          <a:solidFill>
            <a:srgbClr val="FFFFFF"/>
          </a:solidFill>
          <a:ln>
            <a:solidFill>
              <a:srgbClr val="FFFFFF"/>
            </a:solidFill>
          </a:ln>
        </p:spPr>
        <p:txBody>
          <a:bodyPr wrap="square" lIns="0" tIns="0" rIns="0" bIns="0" rtlCol="0" anchor="t"/>
          <a:lstStyle/>
          <a:p>
            <a:pPr marL="171450" indent="-171450" algn="l">
              <a:spcBef>
                <a:spcPts val="0"/>
              </a:spcBef>
              <a:spcAft>
                <a:spcPts val="300"/>
              </a:spcAft>
              <a:buSzPct val="100000"/>
              <a:buChar char="•"/>
            </a:pPr>
            <a:r>
              <a:rPr lang="en-US" b="0" i="0" u="none" dirty="0" sz="1100">
                <a:solidFill>
                  <a:srgbClr val="000000"/>
                </a:solidFill>
                <a:latin typeface="Arial" pitchFamily="34" charset="0"/>
                <a:ea typeface="Calibri" pitchFamily="34" charset="-122"/>
                <a:cs typeface="Calibri" pitchFamily="34" charset="-120"/>
              </a:rPr>
              <a:t>Socket.io</a:t>
            </a:r>
            <a:endParaRPr lang="en-US" sz="1100" dirty="0"/>
          </a:p>
          <a:p>
            <a:pPr marL="171450" indent="-171450" algn="l">
              <a:spcBef>
                <a:spcPts val="0"/>
              </a:spcBef>
              <a:spcAft>
                <a:spcPts val="300"/>
              </a:spcAft>
              <a:buSzPct val="100000"/>
              <a:buChar char="•"/>
            </a:pPr>
            <a:r>
              <a:rPr lang="en-US" b="0" i="0" u="none" dirty="0" sz="1100">
                <a:solidFill>
                  <a:srgbClr val="000000"/>
                </a:solidFill>
                <a:latin typeface="Arial" pitchFamily="34" charset="0"/>
                <a:ea typeface="Calibri" pitchFamily="34" charset="-122"/>
                <a:cs typeface="Calibri" pitchFamily="34" charset="-120"/>
              </a:rPr>
              <a:t>Firebase FCM</a:t>
            </a:r>
            <a:endParaRPr lang="en-US" sz="1100" dirty="0"/>
          </a:p>
        </p:txBody>
      </p:sp>
      <p:sp>
        <p:nvSpPr>
          <p:cNvPr id="34" name="Shape 26"/>
          <p:cNvSpPr/>
          <p:nvPr/>
        </p:nvSpPr>
        <p:spPr>
          <a:xfrm>
            <a:off x="548640" y="5394960"/>
            <a:ext cx="4023360" cy="1188720"/>
          </a:xfrm>
          <a:prstGeom prst="roundRect">
            <a:avLst>
              <a:gd name="adj" fmla="val 9231"/>
            </a:avLst>
          </a:prstGeom>
          <a:solidFill>
            <a:srgbClr val="FFFFFF"/>
          </a:solidFill>
          <a:ln w="12700">
            <a:solidFill>
              <a:srgbClr val="FFFFFF"/>
            </a:solidFill>
            <a:prstDash val="solid"/>
          </a:ln>
        </p:spPr>
        <p:txBody>
          <a:bodyPr/>
          <a:lstStyle/>
          <a:p>
            <a:pPr algn="l">
              <a:spcBef>
                <a:spcPts val="0"/>
              </a:spcBef>
              <a:spcAft>
                <a:spcPts val="0"/>
              </a:spcAft>
            </a:pPr>
            <a:endParaRPr/>
          </a:p>
        </p:txBody>
      </p:sp>
      <p:sp>
        <p:nvSpPr>
          <p:cNvPr id="35" name="Shape 27"/>
          <p:cNvSpPr/>
          <p:nvPr/>
        </p:nvSpPr>
        <p:spPr>
          <a:xfrm>
            <a:off x="777240" y="5623560"/>
            <a:ext cx="640080" cy="640080"/>
          </a:xfrm>
          <a:prstGeom prst="ellipse">
            <a:avLst/>
          </a:prstGeom>
          <a:solidFill>
            <a:srgbClr val="FFFFFF"/>
          </a:solidFill>
          <a:ln w="12700">
            <a:solidFill>
              <a:srgbClr val="FFFFFF"/>
            </a:solidFill>
            <a:prstDash val="solid"/>
          </a:ln>
        </p:spPr>
        <p:txBody>
          <a:bodyPr/>
          <a:lstStyle/>
          <a:p>
            <a:pPr algn="l">
              <a:spcBef>
                <a:spcPts val="0"/>
              </a:spcBef>
              <a:spcAft>
                <a:spcPts val="0"/>
              </a:spcAft>
            </a:pPr>
            <a:endParaRPr/>
          </a:p>
        </p:txBody>
      </p:sp>
      <p:pic>
        <p:nvPicPr>
          <p:cNvPr id="36" name="Image 6" descr="preencoded.png"/>
          <p:cNvPicPr>
            <a:picLocks noChangeAspect="1"/>
          </p:cNvPicPr>
          <p:nvPr/>
        </p:nvPicPr>
        <p:blipFill>
          <a:blip r:embed="rId9"/>
          <a:stretch>
            <a:fillRect/>
          </a:stretch>
        </p:blipFill>
        <p:spPr>
          <a:xfrm>
            <a:off x="932688" y="5779008"/>
            <a:ext cx="329184" cy="329184"/>
          </a:xfrm>
          <a:prstGeom prst="rect">
            <a:avLst/>
          </a:prstGeom>
        </p:spPr>
      </p:pic>
      <p:sp>
        <p:nvSpPr>
          <p:cNvPr id="37" name="Text 28"/>
          <p:cNvSpPr txBox="1"/>
          <p:nvPr/>
        </p:nvSpPr>
        <p:spPr>
          <a:xfrm>
            <a:off x="1600200" y="5522976"/>
            <a:ext cx="2788920" cy="32004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Arial" pitchFamily="34" charset="0"/>
                <a:ea typeface="Cambria" pitchFamily="34" charset="-122"/>
                <a:cs typeface="Cambria" pitchFamily="34" charset="-120"/>
              </a:rPr>
              <a:t>Admin Reports</a:t>
            </a:r>
            <a:endParaRPr lang="en-US" sz="1600" dirty="0"/>
          </a:p>
        </p:txBody>
      </p:sp>
      <p:sp>
        <p:nvSpPr>
          <p:cNvPr id="38" name="Text 29"/>
          <p:cNvSpPr txBox="1"/>
          <p:nvPr/>
        </p:nvSpPr>
        <p:spPr>
          <a:xfrm>
            <a:off x="1600200" y="5852160"/>
            <a:ext cx="2834640" cy="731520"/>
          </a:xfrm>
          <a:prstGeom prst="rect">
            <a:avLst/>
          </a:prstGeom>
          <a:solidFill>
            <a:srgbClr val="FFFFFF"/>
          </a:solidFill>
          <a:ln>
            <a:solidFill>
              <a:srgbClr val="FFFFFF"/>
            </a:solidFill>
          </a:ln>
        </p:spPr>
        <p:txBody>
          <a:bodyPr wrap="square" lIns="0" tIns="0" rIns="0" bIns="0" rtlCol="0" anchor="t"/>
          <a:lstStyle/>
          <a:p>
            <a:pPr marL="171450" indent="-171450" algn="l">
              <a:spcBef>
                <a:spcPts val="0"/>
              </a:spcBef>
              <a:spcAft>
                <a:spcPts val="300"/>
              </a:spcAft>
              <a:buSzPct val="100000"/>
              <a:buChar char="•"/>
            </a:pPr>
            <a:r>
              <a:rPr lang="en-US" b="0" i="0" u="none" dirty="0" sz="1100">
                <a:solidFill>
                  <a:srgbClr val="000000"/>
                </a:solidFill>
                <a:latin typeface="Arial" pitchFamily="34" charset="0"/>
                <a:ea typeface="Calibri" pitchFamily="34" charset="-122"/>
                <a:cs typeface="Calibri" pitchFamily="34" charset="-120"/>
              </a:rPr>
              <a:t>Review</a:t>
            </a:r>
            <a:endParaRPr lang="en-US" sz="1100" dirty="0"/>
          </a:p>
          <a:p>
            <a:pPr marL="171450" indent="-171450" algn="l">
              <a:spcBef>
                <a:spcPts val="0"/>
              </a:spcBef>
              <a:spcAft>
                <a:spcPts val="300"/>
              </a:spcAft>
              <a:buSzPct val="100000"/>
              <a:buChar char="•"/>
            </a:pPr>
            <a:r>
              <a:rPr lang="en-US" b="0" i="0" u="none" dirty="0" sz="1100">
                <a:solidFill>
                  <a:srgbClr val="000000"/>
                </a:solidFill>
                <a:latin typeface="Arial" pitchFamily="34" charset="0"/>
                <a:ea typeface="Calibri" pitchFamily="34" charset="-122"/>
                <a:cs typeface="Calibri" pitchFamily="34" charset="-120"/>
              </a:rPr>
              <a:t>Status update</a:t>
            </a:r>
            <a:endParaRPr lang="en-US" sz="1100" dirty="0"/>
          </a:p>
          <a:p>
            <a:pPr marL="171450" indent="-171450" algn="l">
              <a:spcBef>
                <a:spcPts val="0"/>
              </a:spcBef>
              <a:spcAft>
                <a:spcPts val="300"/>
              </a:spcAft>
              <a:buSzPct val="100000"/>
              <a:buChar char="•"/>
            </a:pPr>
            <a:r>
              <a:rPr lang="en-US" b="0" i="0" u="none" dirty="0" sz="1100">
                <a:solidFill>
                  <a:srgbClr val="000000"/>
                </a:solidFill>
                <a:latin typeface="Arial" pitchFamily="34" charset="0"/>
                <a:ea typeface="Calibri" pitchFamily="34" charset="-122"/>
                <a:cs typeface="Calibri" pitchFamily="34" charset="-120"/>
              </a:rPr>
              <a:t>PDF export</a:t>
            </a:r>
            <a:endParaRPr lang="en-US" sz="1100" dirty="0"/>
          </a:p>
        </p:txBody>
      </p:sp>
      <p:sp>
        <p:nvSpPr>
          <p:cNvPr id="39" name="Shape 30"/>
          <p:cNvSpPr/>
          <p:nvPr/>
        </p:nvSpPr>
        <p:spPr>
          <a:xfrm>
            <a:off x="4800600" y="5394960"/>
            <a:ext cx="4023360" cy="1188720"/>
          </a:xfrm>
          <a:prstGeom prst="roundRect">
            <a:avLst>
              <a:gd name="adj" fmla="val 9231"/>
            </a:avLst>
          </a:prstGeom>
          <a:solidFill>
            <a:srgbClr val="FFFFFF"/>
          </a:solidFill>
          <a:ln w="12700">
            <a:solidFill>
              <a:srgbClr val="FFFFFF"/>
            </a:solidFill>
            <a:prstDash val="solid"/>
          </a:ln>
        </p:spPr>
        <p:txBody>
          <a:bodyPr/>
          <a:lstStyle/>
          <a:p>
            <a:pPr algn="l">
              <a:spcBef>
                <a:spcPts val="0"/>
              </a:spcBef>
              <a:spcAft>
                <a:spcPts val="0"/>
              </a:spcAft>
            </a:pPr>
            <a:endParaRPr/>
          </a:p>
        </p:txBody>
      </p:sp>
      <p:sp>
        <p:nvSpPr>
          <p:cNvPr id="40" name="Shape 31"/>
          <p:cNvSpPr/>
          <p:nvPr/>
        </p:nvSpPr>
        <p:spPr>
          <a:xfrm>
            <a:off x="5029200" y="5623560"/>
            <a:ext cx="640080" cy="640080"/>
          </a:xfrm>
          <a:prstGeom prst="ellipse">
            <a:avLst/>
          </a:prstGeom>
          <a:solidFill>
            <a:srgbClr val="FFFFFF"/>
          </a:solidFill>
          <a:ln w="12700">
            <a:solidFill>
              <a:srgbClr val="FFFFFF"/>
            </a:solidFill>
            <a:prstDash val="solid"/>
          </a:ln>
        </p:spPr>
        <p:txBody>
          <a:bodyPr/>
          <a:lstStyle/>
          <a:p>
            <a:pPr algn="l">
              <a:spcBef>
                <a:spcPts val="0"/>
              </a:spcBef>
              <a:spcAft>
                <a:spcPts val="0"/>
              </a:spcAft>
            </a:pPr>
            <a:endParaRPr/>
          </a:p>
        </p:txBody>
      </p:sp>
      <p:pic>
        <p:nvPicPr>
          <p:cNvPr id="41" name="Image 7" descr="preencoded.png"/>
          <p:cNvPicPr>
            <a:picLocks noChangeAspect="1"/>
          </p:cNvPicPr>
          <p:nvPr/>
        </p:nvPicPr>
        <p:blipFill>
          <a:blip r:embed="rId10"/>
          <a:stretch>
            <a:fillRect/>
          </a:stretch>
        </p:blipFill>
        <p:spPr>
          <a:xfrm>
            <a:off x="5184648" y="5779008"/>
            <a:ext cx="329184" cy="329184"/>
          </a:xfrm>
          <a:prstGeom prst="rect">
            <a:avLst/>
          </a:prstGeom>
        </p:spPr>
      </p:pic>
      <p:sp>
        <p:nvSpPr>
          <p:cNvPr id="42" name="Text 32"/>
          <p:cNvSpPr txBox="1"/>
          <p:nvPr/>
        </p:nvSpPr>
        <p:spPr>
          <a:xfrm>
            <a:off x="5852160" y="5522976"/>
            <a:ext cx="2788920" cy="32004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Arial" pitchFamily="34" charset="0"/>
                <a:ea typeface="Cambria" pitchFamily="34" charset="-122"/>
                <a:cs typeface="Cambria" pitchFamily="34" charset="-120"/>
              </a:rPr>
              <a:t>User Management</a:t>
            </a:r>
            <a:endParaRPr lang="en-US" sz="1600" dirty="0"/>
          </a:p>
        </p:txBody>
      </p:sp>
      <p:sp>
        <p:nvSpPr>
          <p:cNvPr id="43" name="Text 33"/>
          <p:cNvSpPr txBox="1"/>
          <p:nvPr/>
        </p:nvSpPr>
        <p:spPr>
          <a:xfrm>
            <a:off x="5852160" y="5852160"/>
            <a:ext cx="2834640" cy="731520"/>
          </a:xfrm>
          <a:prstGeom prst="rect">
            <a:avLst/>
          </a:prstGeom>
          <a:solidFill>
            <a:srgbClr val="FFFFFF"/>
          </a:solidFill>
          <a:ln>
            <a:solidFill>
              <a:srgbClr val="FFFFFF"/>
            </a:solidFill>
          </a:ln>
        </p:spPr>
        <p:txBody>
          <a:bodyPr wrap="square" lIns="0" tIns="0" rIns="0" bIns="0" rtlCol="0" anchor="t"/>
          <a:lstStyle/>
          <a:p>
            <a:pPr marL="171450" indent="-171450" algn="l">
              <a:spcBef>
                <a:spcPts val="0"/>
              </a:spcBef>
              <a:spcAft>
                <a:spcPts val="300"/>
              </a:spcAft>
              <a:buSzPct val="100000"/>
              <a:buChar char="•"/>
            </a:pPr>
            <a:r>
              <a:rPr lang="en-US" b="0" i="0" u="none" dirty="0" sz="1100">
                <a:solidFill>
                  <a:srgbClr val="000000"/>
                </a:solidFill>
                <a:latin typeface="Arial" pitchFamily="34" charset="0"/>
                <a:ea typeface="Calibri" pitchFamily="34" charset="-122"/>
                <a:cs typeface="Calibri" pitchFamily="34" charset="-120"/>
              </a:rPr>
              <a:t>Accounts</a:t>
            </a:r>
            <a:endParaRPr lang="en-US" sz="1100" dirty="0"/>
          </a:p>
          <a:p>
            <a:pPr marL="171450" indent="-171450" algn="l">
              <a:spcBef>
                <a:spcPts val="0"/>
              </a:spcBef>
              <a:spcAft>
                <a:spcPts val="300"/>
              </a:spcAft>
              <a:buSzPct val="100000"/>
              <a:buChar char="•"/>
            </a:pPr>
            <a:r>
              <a:rPr lang="en-US" b="0" i="0" u="none" dirty="0" sz="1100">
                <a:solidFill>
                  <a:srgbClr val="000000"/>
                </a:solidFill>
                <a:latin typeface="Arial" pitchFamily="34" charset="0"/>
                <a:ea typeface="Calibri" pitchFamily="34" charset="-122"/>
                <a:cs typeface="Calibri" pitchFamily="34" charset="-120"/>
              </a:rPr>
              <a:t>Roles</a:t>
            </a:r>
            <a:endParaRPr lang="en-US" sz="1100" dirty="0"/>
          </a:p>
          <a:p>
            <a:pPr marL="171450" indent="-171450" algn="l">
              <a:spcBef>
                <a:spcPts val="0"/>
              </a:spcBef>
              <a:spcAft>
                <a:spcPts val="300"/>
              </a:spcAft>
              <a:buSzPct val="100000"/>
              <a:buChar char="•"/>
            </a:pPr>
            <a:r>
              <a:rPr lang="en-US" b="0" i="0" u="none" dirty="0" sz="1100">
                <a:solidFill>
                  <a:srgbClr val="000000"/>
                </a:solidFill>
                <a:latin typeface="Arial" pitchFamily="34" charset="0"/>
                <a:ea typeface="Calibri" pitchFamily="34" charset="-122"/>
                <a:cs typeface="Calibri" pitchFamily="34" charset="-120"/>
              </a:rPr>
              <a:t>Report counts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656625" cy="82296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Arial" pitchFamily="34" charset="0"/>
                <a:ea typeface="Cambria" pitchFamily="34" charset="-122"/>
                <a:cs typeface="Cambria" pitchFamily="34" charset="-120"/>
              </a:rPr>
              <a:t>Future Recommendations</a:t>
            </a:r>
            <a:endParaRPr lang="en-US" sz="3600" dirty="0"/>
          </a:p>
        </p:txBody>
      </p:sp>
      <p:sp>
        <p:nvSpPr>
          <p:cNvPr id="3" name="Text 1"/>
          <p:cNvSpPr txBox="1"/>
          <p:nvPr/>
        </p:nvSpPr>
        <p:spPr>
          <a:xfrm>
            <a:off x="8748065" y="6858000"/>
            <a:ext cx="457200" cy="27432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Arial" pitchFamily="34" charset="0"/>
                <a:ea typeface="Calibri" pitchFamily="34" charset="-122"/>
                <a:cs typeface="Calibri" pitchFamily="34" charset="-120"/>
              </a:rPr>
              <a:t>31</a:t>
            </a:r>
            <a:endParaRPr lang="en-US" sz="1100" dirty="0"/>
          </a:p>
        </p:txBody>
      </p:sp>
      <p:sp>
        <p:nvSpPr>
          <p:cNvPr id="4" name="Shape 2"/>
          <p:cNvSpPr/>
          <p:nvPr/>
        </p:nvSpPr>
        <p:spPr>
          <a:xfrm>
            <a:off x="548640" y="1417320"/>
            <a:ext cx="4023360" cy="1645920"/>
          </a:xfrm>
          <a:prstGeom prst="roundRect">
            <a:avLst>
              <a:gd name="adj" fmla="val 6667"/>
            </a:avLst>
          </a:prstGeom>
          <a:solidFill>
            <a:srgbClr val="FFFFFF"/>
          </a:solidFill>
          <a:ln w="12700">
            <a:solidFill>
              <a:srgbClr val="FFFFFF"/>
            </a:solidFill>
            <a:prstDash val="solid"/>
          </a:ln>
        </p:spPr>
        <p:txBody>
          <a:bodyPr/>
          <a:lstStyle/>
          <a:p>
            <a:pPr algn="l">
              <a:spcBef>
                <a:spcPts val="0"/>
              </a:spcBef>
              <a:spcAft>
                <a:spcPts val="0"/>
              </a:spcAft>
            </a:pPr>
            <a:endParaRPr/>
          </a:p>
        </p:txBody>
      </p:sp>
      <p:sp>
        <p:nvSpPr>
          <p:cNvPr id="5" name="Shape 3"/>
          <p:cNvSpPr/>
          <p:nvPr/>
        </p:nvSpPr>
        <p:spPr>
          <a:xfrm>
            <a:off x="777240" y="1645920"/>
            <a:ext cx="640080" cy="640080"/>
          </a:xfrm>
          <a:prstGeom prst="ellipse">
            <a:avLst/>
          </a:prstGeom>
          <a:solidFill>
            <a:srgbClr val="FFFFFF"/>
          </a:solidFill>
          <a:ln w="12700">
            <a:solidFill>
              <a:srgbClr val="FFFFFF"/>
            </a:solidFill>
            <a:prstDash val="solid"/>
          </a:ln>
        </p:spPr>
        <p:txBody>
          <a:bodyPr/>
          <a:lstStyle/>
          <a:p>
            <a:pPr algn="l">
              <a:spcBef>
                <a:spcPts val="0"/>
              </a:spcBef>
              <a:spcAft>
                <a:spcPts val="0"/>
              </a:spcAft>
            </a:pPr>
            <a:endParaRPr/>
          </a:p>
        </p:txBody>
      </p:sp>
      <p:pic>
        <p:nvPicPr>
          <p:cNvPr id="6" name="Image 0" descr="preencoded.png"/>
          <p:cNvPicPr>
            <a:picLocks noChangeAspect="1"/>
          </p:cNvPicPr>
          <p:nvPr/>
        </p:nvPicPr>
        <p:blipFill>
          <a:blip r:embed="rId3"/>
          <a:stretch>
            <a:fillRect/>
          </a:stretch>
        </p:blipFill>
        <p:spPr>
          <a:xfrm>
            <a:off x="932688" y="1801368"/>
            <a:ext cx="329184" cy="329184"/>
          </a:xfrm>
          <a:prstGeom prst="rect">
            <a:avLst/>
          </a:prstGeom>
        </p:spPr>
      </p:pic>
      <p:sp>
        <p:nvSpPr>
          <p:cNvPr id="7" name="Text 4"/>
          <p:cNvSpPr txBox="1"/>
          <p:nvPr/>
        </p:nvSpPr>
        <p:spPr>
          <a:xfrm>
            <a:off x="1600200" y="1600200"/>
            <a:ext cx="2788920" cy="73152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Arial" pitchFamily="34" charset="0"/>
                <a:ea typeface="Cambria" pitchFamily="34" charset="-122"/>
                <a:cs typeface="Cambria" pitchFamily="34" charset="-120"/>
              </a:rPr>
              <a:t>Improve OCR</a:t>
            </a:r>
            <a:endParaRPr lang="en-US" sz="1700" dirty="0"/>
          </a:p>
        </p:txBody>
      </p:sp>
      <p:sp>
        <p:nvSpPr>
          <p:cNvPr id="8" name="Text 5"/>
          <p:cNvSpPr txBox="1"/>
          <p:nvPr/>
        </p:nvSpPr>
        <p:spPr>
          <a:xfrm>
            <a:off x="777240" y="2286000"/>
            <a:ext cx="3566160" cy="731520"/>
          </a:xfrm>
          <a:prstGeom prst="rect">
            <a:avLst/>
          </a:prstGeom>
          <a:solidFill>
            <a:srgbClr val="FFFFFF"/>
          </a:solidFill>
          <a:ln>
            <a:solidFill>
              <a:srgbClr val="FFFFFF"/>
            </a:solidFill>
          </a:ln>
        </p:spPr>
        <p:txBody>
          <a:bodyPr wrap="square" lIns="0" tIns="0" rIns="0" bIns="0" rtlCol="0" anchor="t"/>
          <a:lstStyle/>
          <a:p>
            <a:pPr marL="171450" indent="-171450" algn="l">
              <a:spcBef>
                <a:spcPts val="0"/>
              </a:spcBef>
              <a:spcAft>
                <a:spcPts val="300"/>
              </a:spcAft>
              <a:buSzPct val="100000"/>
              <a:buChar char="•"/>
            </a:pPr>
            <a:r>
              <a:rPr lang="en-US" b="0" i="0" u="none" dirty="0" sz="1200">
                <a:solidFill>
                  <a:srgbClr val="000000"/>
                </a:solidFill>
                <a:latin typeface="Arial" pitchFamily="34" charset="0"/>
                <a:ea typeface="Calibri" pitchFamily="34" charset="-122"/>
                <a:cs typeface="Calibri" pitchFamily="34" charset="-120"/>
              </a:rPr>
              <a:t>Segmentation-free CRNN (CNN + BiLSTM + CTC)</a:t>
            </a:r>
            <a:endParaRPr lang="en-US" sz="1200" dirty="0"/>
          </a:p>
          <a:p>
            <a:pPr marL="171450" indent="-171450" algn="l">
              <a:spcBef>
                <a:spcPts val="0"/>
              </a:spcBef>
              <a:spcAft>
                <a:spcPts val="300"/>
              </a:spcAft>
              <a:buSzPct val="100000"/>
              <a:buChar char="•"/>
            </a:pPr>
            <a:r>
              <a:rPr lang="en-US" b="0" i="0" u="none" dirty="0" sz="1200">
                <a:solidFill>
                  <a:srgbClr val="000000"/>
                </a:solidFill>
                <a:latin typeface="Arial" pitchFamily="34" charset="0"/>
                <a:ea typeface="Calibri" pitchFamily="34" charset="-122"/>
                <a:cs typeface="Calibri" pitchFamily="34" charset="-120"/>
              </a:rPr>
              <a:t>More low-light, blurred, embossed samples</a:t>
            </a:r>
            <a:endParaRPr lang="en-US" sz="1200" dirty="0"/>
          </a:p>
        </p:txBody>
      </p:sp>
      <p:sp>
        <p:nvSpPr>
          <p:cNvPr id="9" name="Shape 6"/>
          <p:cNvSpPr/>
          <p:nvPr/>
        </p:nvSpPr>
        <p:spPr>
          <a:xfrm>
            <a:off x="4800600" y="1417320"/>
            <a:ext cx="4023360" cy="1645920"/>
          </a:xfrm>
          <a:prstGeom prst="roundRect">
            <a:avLst>
              <a:gd name="adj" fmla="val 6667"/>
            </a:avLst>
          </a:prstGeom>
          <a:solidFill>
            <a:srgbClr val="FFFFFF"/>
          </a:solidFill>
          <a:ln w="12700">
            <a:solidFill>
              <a:srgbClr val="FFFFFF"/>
            </a:solidFill>
            <a:prstDash val="solid"/>
          </a:ln>
        </p:spPr>
        <p:txBody>
          <a:bodyPr/>
          <a:lstStyle/>
          <a:p>
            <a:pPr algn="l">
              <a:spcBef>
                <a:spcPts val="0"/>
              </a:spcBef>
              <a:spcAft>
                <a:spcPts val="0"/>
              </a:spcAft>
            </a:pPr>
            <a:endParaRPr/>
          </a:p>
        </p:txBody>
      </p:sp>
      <p:sp>
        <p:nvSpPr>
          <p:cNvPr id="10" name="Shape 7"/>
          <p:cNvSpPr/>
          <p:nvPr/>
        </p:nvSpPr>
        <p:spPr>
          <a:xfrm>
            <a:off x="5029200" y="1645920"/>
            <a:ext cx="640080" cy="640080"/>
          </a:xfrm>
          <a:prstGeom prst="ellipse">
            <a:avLst/>
          </a:prstGeom>
          <a:solidFill>
            <a:srgbClr val="FFFFFF"/>
          </a:solidFill>
          <a:ln w="12700">
            <a:solidFill>
              <a:srgbClr val="FFFFFF"/>
            </a:solidFill>
            <a:prstDash val="solid"/>
          </a:ln>
        </p:spPr>
        <p:txBody>
          <a:bodyPr/>
          <a:lstStyle/>
          <a:p>
            <a:pPr algn="l">
              <a:spcBef>
                <a:spcPts val="0"/>
              </a:spcBef>
              <a:spcAft>
                <a:spcPts val="0"/>
              </a:spcAft>
            </a:pPr>
            <a:endParaRPr/>
          </a:p>
        </p:txBody>
      </p:sp>
      <p:pic>
        <p:nvPicPr>
          <p:cNvPr id="11" name="Image 1" descr="preencoded.png"/>
          <p:cNvPicPr>
            <a:picLocks noChangeAspect="1"/>
          </p:cNvPicPr>
          <p:nvPr/>
        </p:nvPicPr>
        <p:blipFill>
          <a:blip r:embed="rId4"/>
          <a:stretch>
            <a:fillRect/>
          </a:stretch>
        </p:blipFill>
        <p:spPr>
          <a:xfrm>
            <a:off x="5184648" y="1801368"/>
            <a:ext cx="329184" cy="329184"/>
          </a:xfrm>
          <a:prstGeom prst="rect">
            <a:avLst/>
          </a:prstGeom>
        </p:spPr>
      </p:pic>
      <p:sp>
        <p:nvSpPr>
          <p:cNvPr id="12" name="Text 8"/>
          <p:cNvSpPr txBox="1"/>
          <p:nvPr/>
        </p:nvSpPr>
        <p:spPr>
          <a:xfrm>
            <a:off x="5852160" y="1600200"/>
            <a:ext cx="2788920" cy="73152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Arial" pitchFamily="34" charset="0"/>
                <a:ea typeface="Cambria" pitchFamily="34" charset="-122"/>
                <a:cs typeface="Cambria" pitchFamily="34" charset="-120"/>
              </a:rPr>
              <a:t>Government integration</a:t>
            </a:r>
            <a:endParaRPr lang="en-US" sz="1700" dirty="0"/>
          </a:p>
        </p:txBody>
      </p:sp>
      <p:sp>
        <p:nvSpPr>
          <p:cNvPr id="13" name="Text 9"/>
          <p:cNvSpPr txBox="1"/>
          <p:nvPr/>
        </p:nvSpPr>
        <p:spPr>
          <a:xfrm>
            <a:off x="5029200" y="2286000"/>
            <a:ext cx="3566160" cy="731520"/>
          </a:xfrm>
          <a:prstGeom prst="rect">
            <a:avLst/>
          </a:prstGeom>
          <a:solidFill>
            <a:srgbClr val="FFFFFF"/>
          </a:solidFill>
          <a:ln>
            <a:solidFill>
              <a:srgbClr val="FFFFFF"/>
            </a:solidFill>
          </a:ln>
        </p:spPr>
        <p:txBody>
          <a:bodyPr wrap="square" lIns="0" tIns="0" rIns="0" bIns="0" rtlCol="0" anchor="t"/>
          <a:lstStyle/>
          <a:p>
            <a:pPr marL="171450" indent="-171450" algn="l">
              <a:spcBef>
                <a:spcPts val="0"/>
              </a:spcBef>
              <a:spcAft>
                <a:spcPts val="300"/>
              </a:spcAft>
              <a:buSzPct val="100000"/>
              <a:buChar char="•"/>
            </a:pPr>
            <a:r>
              <a:rPr lang="en-US" b="0" i="0" u="none" dirty="0" sz="1200">
                <a:solidFill>
                  <a:srgbClr val="000000"/>
                </a:solidFill>
                <a:latin typeface="Arial" pitchFamily="34" charset="0"/>
                <a:ea typeface="Calibri" pitchFamily="34" charset="-122"/>
                <a:cs typeface="Calibri" pitchFamily="34" charset="-120"/>
              </a:rPr>
              <a:t>Link to the Department of Transport Management registration database</a:t>
            </a:r>
            <a:endParaRPr lang="en-US" sz="1200" dirty="0"/>
          </a:p>
        </p:txBody>
      </p:sp>
      <p:sp>
        <p:nvSpPr>
          <p:cNvPr id="14" name="Shape 10"/>
          <p:cNvSpPr/>
          <p:nvPr/>
        </p:nvSpPr>
        <p:spPr>
          <a:xfrm>
            <a:off x="548640" y="3200400"/>
            <a:ext cx="4023360" cy="1645920"/>
          </a:xfrm>
          <a:prstGeom prst="roundRect">
            <a:avLst>
              <a:gd name="adj" fmla="val 6667"/>
            </a:avLst>
          </a:prstGeom>
          <a:solidFill>
            <a:srgbClr val="FFFFFF"/>
          </a:solidFill>
          <a:ln w="12700">
            <a:solidFill>
              <a:srgbClr val="FFFFFF"/>
            </a:solidFill>
            <a:prstDash val="solid"/>
          </a:ln>
        </p:spPr>
        <p:txBody>
          <a:bodyPr/>
          <a:lstStyle/>
          <a:p>
            <a:pPr algn="l">
              <a:spcBef>
                <a:spcPts val="0"/>
              </a:spcBef>
              <a:spcAft>
                <a:spcPts val="0"/>
              </a:spcAft>
            </a:pPr>
            <a:endParaRPr/>
          </a:p>
        </p:txBody>
      </p:sp>
      <p:sp>
        <p:nvSpPr>
          <p:cNvPr id="15" name="Shape 11"/>
          <p:cNvSpPr/>
          <p:nvPr/>
        </p:nvSpPr>
        <p:spPr>
          <a:xfrm>
            <a:off x="777240" y="3429000"/>
            <a:ext cx="640080" cy="640080"/>
          </a:xfrm>
          <a:prstGeom prst="ellipse">
            <a:avLst/>
          </a:prstGeom>
          <a:solidFill>
            <a:srgbClr val="FFFFFF"/>
          </a:solidFill>
          <a:ln w="12700">
            <a:solidFill>
              <a:srgbClr val="FFFFFF"/>
            </a:solidFill>
            <a:prstDash val="solid"/>
          </a:ln>
        </p:spPr>
        <p:txBody>
          <a:bodyPr/>
          <a:lstStyle/>
          <a:p>
            <a:pPr algn="l">
              <a:spcBef>
                <a:spcPts val="0"/>
              </a:spcBef>
              <a:spcAft>
                <a:spcPts val="0"/>
              </a:spcAft>
            </a:pPr>
            <a:endParaRPr/>
          </a:p>
        </p:txBody>
      </p:sp>
      <p:pic>
        <p:nvPicPr>
          <p:cNvPr id="16" name="Image 2" descr="preencoded.png"/>
          <p:cNvPicPr>
            <a:picLocks noChangeAspect="1"/>
          </p:cNvPicPr>
          <p:nvPr/>
        </p:nvPicPr>
        <p:blipFill>
          <a:blip r:embed="rId5"/>
          <a:stretch>
            <a:fillRect/>
          </a:stretch>
        </p:blipFill>
        <p:spPr>
          <a:xfrm>
            <a:off x="932688" y="3584448"/>
            <a:ext cx="329184" cy="329184"/>
          </a:xfrm>
          <a:prstGeom prst="rect">
            <a:avLst/>
          </a:prstGeom>
        </p:spPr>
      </p:pic>
      <p:sp>
        <p:nvSpPr>
          <p:cNvPr id="17" name="Text 12"/>
          <p:cNvSpPr txBox="1"/>
          <p:nvPr/>
        </p:nvSpPr>
        <p:spPr>
          <a:xfrm>
            <a:off x="1600200" y="3383280"/>
            <a:ext cx="2788920" cy="73152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Arial" pitchFamily="34" charset="0"/>
                <a:ea typeface="Cambria" pitchFamily="34" charset="-122"/>
                <a:cs typeface="Cambria" pitchFamily="34" charset="-120"/>
              </a:rPr>
              <a:t>Fines and payments</a:t>
            </a:r>
            <a:endParaRPr lang="en-US" sz="1700" dirty="0"/>
          </a:p>
        </p:txBody>
      </p:sp>
      <p:sp>
        <p:nvSpPr>
          <p:cNvPr id="18" name="Text 13"/>
          <p:cNvSpPr txBox="1"/>
          <p:nvPr/>
        </p:nvSpPr>
        <p:spPr>
          <a:xfrm>
            <a:off x="777240" y="4069080"/>
            <a:ext cx="3566160" cy="731520"/>
          </a:xfrm>
          <a:prstGeom prst="rect">
            <a:avLst/>
          </a:prstGeom>
          <a:solidFill>
            <a:srgbClr val="FFFFFF"/>
          </a:solidFill>
          <a:ln>
            <a:solidFill>
              <a:srgbClr val="FFFFFF"/>
            </a:solidFill>
          </a:ln>
        </p:spPr>
        <p:txBody>
          <a:bodyPr wrap="square" lIns="0" tIns="0" rIns="0" bIns="0" rtlCol="0" anchor="t"/>
          <a:lstStyle/>
          <a:p>
            <a:pPr marL="171450" indent="-171450" algn="l">
              <a:spcBef>
                <a:spcPts val="0"/>
              </a:spcBef>
              <a:spcAft>
                <a:spcPts val="300"/>
              </a:spcAft>
              <a:buSzPct val="100000"/>
              <a:buChar char="•"/>
            </a:pPr>
            <a:r>
              <a:rPr lang="en-US" b="0" i="0" u="none" dirty="0" sz="1200">
                <a:solidFill>
                  <a:srgbClr val="000000"/>
                </a:solidFill>
                <a:latin typeface="Arial" pitchFamily="34" charset="0"/>
                <a:ea typeface="Calibri" pitchFamily="34" charset="-122"/>
                <a:cs typeface="Calibri" pitchFamily="34" charset="-120"/>
              </a:rPr>
              <a:t>Digital fine issuance</a:t>
            </a:r>
            <a:endParaRPr lang="en-US" sz="1200" dirty="0"/>
          </a:p>
          <a:p>
            <a:pPr marL="171450" indent="-171450" algn="l">
              <a:spcBef>
                <a:spcPts val="0"/>
              </a:spcBef>
              <a:spcAft>
                <a:spcPts val="300"/>
              </a:spcAft>
              <a:buSzPct val="100000"/>
              <a:buChar char="•"/>
            </a:pPr>
            <a:r>
              <a:rPr lang="en-US" b="0" i="0" u="none" dirty="0" sz="1200">
                <a:solidFill>
                  <a:srgbClr val="000000"/>
                </a:solidFill>
                <a:latin typeface="Arial" pitchFamily="34" charset="0"/>
                <a:ea typeface="Calibri" pitchFamily="34" charset="-122"/>
                <a:cs typeface="Calibri" pitchFamily="34" charset="-120"/>
              </a:rPr>
              <a:t>Payment for verified violations</a:t>
            </a:r>
            <a:endParaRPr lang="en-US" sz="1200" dirty="0"/>
          </a:p>
        </p:txBody>
      </p:sp>
      <p:sp>
        <p:nvSpPr>
          <p:cNvPr id="19" name="Shape 14"/>
          <p:cNvSpPr/>
          <p:nvPr/>
        </p:nvSpPr>
        <p:spPr>
          <a:xfrm>
            <a:off x="4800600" y="3200400"/>
            <a:ext cx="4023360" cy="1645920"/>
          </a:xfrm>
          <a:prstGeom prst="roundRect">
            <a:avLst>
              <a:gd name="adj" fmla="val 6667"/>
            </a:avLst>
          </a:prstGeom>
          <a:solidFill>
            <a:srgbClr val="FFFFFF"/>
          </a:solidFill>
          <a:ln w="12700">
            <a:solidFill>
              <a:srgbClr val="FFFFFF"/>
            </a:solidFill>
            <a:prstDash val="solid"/>
          </a:ln>
        </p:spPr>
        <p:txBody>
          <a:bodyPr/>
          <a:lstStyle/>
          <a:p>
            <a:pPr algn="l">
              <a:spcBef>
                <a:spcPts val="0"/>
              </a:spcBef>
              <a:spcAft>
                <a:spcPts val="0"/>
              </a:spcAft>
            </a:pPr>
            <a:endParaRPr/>
          </a:p>
        </p:txBody>
      </p:sp>
      <p:sp>
        <p:nvSpPr>
          <p:cNvPr id="20" name="Shape 15"/>
          <p:cNvSpPr/>
          <p:nvPr/>
        </p:nvSpPr>
        <p:spPr>
          <a:xfrm>
            <a:off x="5029200" y="3429000"/>
            <a:ext cx="640080" cy="640080"/>
          </a:xfrm>
          <a:prstGeom prst="ellipse">
            <a:avLst/>
          </a:prstGeom>
          <a:solidFill>
            <a:srgbClr val="FFFFFF"/>
          </a:solidFill>
          <a:ln w="12700">
            <a:solidFill>
              <a:srgbClr val="FFFFFF"/>
            </a:solidFill>
            <a:prstDash val="solid"/>
          </a:ln>
        </p:spPr>
        <p:txBody>
          <a:bodyPr/>
          <a:lstStyle/>
          <a:p>
            <a:pPr algn="l">
              <a:spcBef>
                <a:spcPts val="0"/>
              </a:spcBef>
              <a:spcAft>
                <a:spcPts val="0"/>
              </a:spcAft>
            </a:pPr>
            <a:endParaRPr/>
          </a:p>
        </p:txBody>
      </p:sp>
      <p:pic>
        <p:nvPicPr>
          <p:cNvPr id="21" name="Image 3" descr="preencoded.png"/>
          <p:cNvPicPr>
            <a:picLocks noChangeAspect="1"/>
          </p:cNvPicPr>
          <p:nvPr/>
        </p:nvPicPr>
        <p:blipFill>
          <a:blip r:embed="rId6"/>
          <a:stretch>
            <a:fillRect/>
          </a:stretch>
        </p:blipFill>
        <p:spPr>
          <a:xfrm>
            <a:off x="5184648" y="3584448"/>
            <a:ext cx="329184" cy="329184"/>
          </a:xfrm>
          <a:prstGeom prst="rect">
            <a:avLst/>
          </a:prstGeom>
        </p:spPr>
      </p:pic>
      <p:sp>
        <p:nvSpPr>
          <p:cNvPr id="22" name="Text 16"/>
          <p:cNvSpPr txBox="1"/>
          <p:nvPr/>
        </p:nvSpPr>
        <p:spPr>
          <a:xfrm>
            <a:off x="5852160" y="3383280"/>
            <a:ext cx="2788920" cy="73152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Arial" pitchFamily="34" charset="0"/>
                <a:ea typeface="Cambria" pitchFamily="34" charset="-122"/>
                <a:cs typeface="Cambria" pitchFamily="34" charset="-120"/>
              </a:rPr>
              <a:t>Offline-first support</a:t>
            </a:r>
            <a:endParaRPr lang="en-US" sz="1700" dirty="0"/>
          </a:p>
        </p:txBody>
      </p:sp>
      <p:sp>
        <p:nvSpPr>
          <p:cNvPr id="23" name="Text 17"/>
          <p:cNvSpPr txBox="1"/>
          <p:nvPr/>
        </p:nvSpPr>
        <p:spPr>
          <a:xfrm>
            <a:off x="5029200" y="4069080"/>
            <a:ext cx="3566160" cy="731520"/>
          </a:xfrm>
          <a:prstGeom prst="rect">
            <a:avLst/>
          </a:prstGeom>
          <a:solidFill>
            <a:srgbClr val="FFFFFF"/>
          </a:solidFill>
          <a:ln>
            <a:solidFill>
              <a:srgbClr val="FFFFFF"/>
            </a:solidFill>
          </a:ln>
        </p:spPr>
        <p:txBody>
          <a:bodyPr wrap="square" lIns="0" tIns="0" rIns="0" bIns="0" rtlCol="0" anchor="t"/>
          <a:lstStyle/>
          <a:p>
            <a:pPr marL="171450" indent="-171450" algn="l">
              <a:spcBef>
                <a:spcPts val="0"/>
              </a:spcBef>
              <a:spcAft>
                <a:spcPts val="300"/>
              </a:spcAft>
              <a:buSzPct val="100000"/>
              <a:buChar char="•"/>
            </a:pPr>
            <a:r>
              <a:rPr lang="en-US" b="0" i="0" u="none" dirty="0" sz="1200">
                <a:solidFill>
                  <a:srgbClr val="000000"/>
                </a:solidFill>
                <a:latin typeface="Arial" pitchFamily="34" charset="0"/>
                <a:ea typeface="Calibri" pitchFamily="34" charset="-122"/>
                <a:cs typeface="Calibri" pitchFamily="34" charset="-120"/>
              </a:rPr>
              <a:t>Draft and queue reports offline</a:t>
            </a:r>
            <a:endParaRPr lang="en-US" sz="1200" dirty="0"/>
          </a:p>
          <a:p>
            <a:pPr marL="171450" indent="-171450" algn="l">
              <a:spcBef>
                <a:spcPts val="0"/>
              </a:spcBef>
              <a:spcAft>
                <a:spcPts val="300"/>
              </a:spcAft>
              <a:buSzPct val="100000"/>
              <a:buChar char="•"/>
            </a:pPr>
            <a:r>
              <a:rPr lang="en-US" b="0" i="0" u="none" dirty="0" sz="1200">
                <a:solidFill>
                  <a:srgbClr val="000000"/>
                </a:solidFill>
                <a:latin typeface="Arial" pitchFamily="34" charset="0"/>
                <a:ea typeface="Calibri" pitchFamily="34" charset="-122"/>
                <a:cs typeface="Calibri" pitchFamily="34" charset="-120"/>
              </a:rPr>
              <a:t>Sync when connected</a:t>
            </a:r>
            <a:endParaRPr lang="en-US" sz="1200" dirty="0"/>
          </a:p>
        </p:txBody>
      </p:sp>
      <p:sp>
        <p:nvSpPr>
          <p:cNvPr id="24" name="Shape 18"/>
          <p:cNvSpPr/>
          <p:nvPr/>
        </p:nvSpPr>
        <p:spPr>
          <a:xfrm>
            <a:off x="548640" y="4983480"/>
            <a:ext cx="4023360" cy="1645920"/>
          </a:xfrm>
          <a:prstGeom prst="roundRect">
            <a:avLst>
              <a:gd name="adj" fmla="val 6667"/>
            </a:avLst>
          </a:prstGeom>
          <a:solidFill>
            <a:srgbClr val="FFFFFF"/>
          </a:solidFill>
          <a:ln w="12700">
            <a:solidFill>
              <a:srgbClr val="FFFFFF"/>
            </a:solidFill>
            <a:prstDash val="solid"/>
          </a:ln>
        </p:spPr>
        <p:txBody>
          <a:bodyPr/>
          <a:lstStyle/>
          <a:p>
            <a:pPr algn="l">
              <a:spcBef>
                <a:spcPts val="0"/>
              </a:spcBef>
              <a:spcAft>
                <a:spcPts val="0"/>
              </a:spcAft>
            </a:pPr>
            <a:endParaRPr/>
          </a:p>
        </p:txBody>
      </p:sp>
      <p:sp>
        <p:nvSpPr>
          <p:cNvPr id="25" name="Shape 19"/>
          <p:cNvSpPr/>
          <p:nvPr/>
        </p:nvSpPr>
        <p:spPr>
          <a:xfrm>
            <a:off x="777240" y="5212080"/>
            <a:ext cx="640080" cy="640080"/>
          </a:xfrm>
          <a:prstGeom prst="ellipse">
            <a:avLst/>
          </a:prstGeom>
          <a:solidFill>
            <a:srgbClr val="FFFFFF"/>
          </a:solidFill>
          <a:ln w="12700">
            <a:solidFill>
              <a:srgbClr val="FFFFFF"/>
            </a:solidFill>
            <a:prstDash val="solid"/>
          </a:ln>
        </p:spPr>
        <p:txBody>
          <a:bodyPr/>
          <a:lstStyle/>
          <a:p>
            <a:pPr algn="l">
              <a:spcBef>
                <a:spcPts val="0"/>
              </a:spcBef>
              <a:spcAft>
                <a:spcPts val="0"/>
              </a:spcAft>
            </a:pPr>
            <a:endParaRPr/>
          </a:p>
        </p:txBody>
      </p:sp>
      <p:pic>
        <p:nvPicPr>
          <p:cNvPr id="26" name="Image 4" descr="preencoded.png"/>
          <p:cNvPicPr>
            <a:picLocks noChangeAspect="1"/>
          </p:cNvPicPr>
          <p:nvPr/>
        </p:nvPicPr>
        <p:blipFill>
          <a:blip r:embed="rId7"/>
          <a:stretch>
            <a:fillRect/>
          </a:stretch>
        </p:blipFill>
        <p:spPr>
          <a:xfrm>
            <a:off x="932688" y="5367528"/>
            <a:ext cx="329184" cy="329184"/>
          </a:xfrm>
          <a:prstGeom prst="rect">
            <a:avLst/>
          </a:prstGeom>
        </p:spPr>
      </p:pic>
      <p:sp>
        <p:nvSpPr>
          <p:cNvPr id="27" name="Text 20"/>
          <p:cNvSpPr txBox="1"/>
          <p:nvPr/>
        </p:nvSpPr>
        <p:spPr>
          <a:xfrm>
            <a:off x="1600200" y="5166360"/>
            <a:ext cx="2788920" cy="73152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Arial" pitchFamily="34" charset="0"/>
                <a:ea typeface="Cambria" pitchFamily="34" charset="-122"/>
                <a:cs typeface="Cambria" pitchFamily="34" charset="-120"/>
              </a:rPr>
              <a:t>Security auditing</a:t>
            </a:r>
            <a:endParaRPr lang="en-US" sz="1700" dirty="0"/>
          </a:p>
        </p:txBody>
      </p:sp>
      <p:sp>
        <p:nvSpPr>
          <p:cNvPr id="28" name="Text 21"/>
          <p:cNvSpPr txBox="1"/>
          <p:nvPr/>
        </p:nvSpPr>
        <p:spPr>
          <a:xfrm>
            <a:off x="777240" y="5852160"/>
            <a:ext cx="3566160" cy="731520"/>
          </a:xfrm>
          <a:prstGeom prst="rect">
            <a:avLst/>
          </a:prstGeom>
          <a:solidFill>
            <a:srgbClr val="FFFFFF"/>
          </a:solidFill>
          <a:ln>
            <a:solidFill>
              <a:srgbClr val="FFFFFF"/>
            </a:solidFill>
          </a:ln>
        </p:spPr>
        <p:txBody>
          <a:bodyPr wrap="square" lIns="0" tIns="0" rIns="0" bIns="0" rtlCol="0" anchor="t"/>
          <a:lstStyle/>
          <a:p>
            <a:pPr marL="171450" indent="-171450" algn="l">
              <a:spcBef>
                <a:spcPts val="0"/>
              </a:spcBef>
              <a:spcAft>
                <a:spcPts val="300"/>
              </a:spcAft>
              <a:buSzPct val="100000"/>
              <a:buChar char="•"/>
            </a:pPr>
            <a:r>
              <a:rPr lang="en-US" b="0" i="0" u="none" dirty="0" sz="1200">
                <a:solidFill>
                  <a:srgbClr val="000000"/>
                </a:solidFill>
                <a:latin typeface="Arial" pitchFamily="34" charset="0"/>
                <a:ea typeface="Calibri" pitchFamily="34" charset="-122"/>
                <a:cs typeface="Calibri" pitchFamily="34" charset="-120"/>
              </a:rPr>
              <a:t>Penetration testing before real-world deployment</a:t>
            </a:r>
            <a:endParaRPr lang="en-US" sz="1200" dirty="0"/>
          </a:p>
        </p:txBody>
      </p:sp>
      <p:sp>
        <p:nvSpPr>
          <p:cNvPr id="29" name="Shape 22"/>
          <p:cNvSpPr/>
          <p:nvPr/>
        </p:nvSpPr>
        <p:spPr>
          <a:xfrm>
            <a:off x="4800600" y="4983480"/>
            <a:ext cx="4023360" cy="1645920"/>
          </a:xfrm>
          <a:prstGeom prst="roundRect">
            <a:avLst>
              <a:gd name="adj" fmla="val 6667"/>
            </a:avLst>
          </a:prstGeom>
          <a:solidFill>
            <a:srgbClr val="FFFFFF"/>
          </a:solidFill>
          <a:ln w="12700">
            <a:solidFill>
              <a:srgbClr val="FFFFFF"/>
            </a:solidFill>
            <a:prstDash val="solid"/>
          </a:ln>
        </p:spPr>
        <p:txBody>
          <a:bodyPr/>
          <a:lstStyle/>
          <a:p>
            <a:pPr algn="l">
              <a:spcBef>
                <a:spcPts val="0"/>
              </a:spcBef>
              <a:spcAft>
                <a:spcPts val="0"/>
              </a:spcAft>
            </a:pPr>
            <a:endParaRPr/>
          </a:p>
        </p:txBody>
      </p:sp>
      <p:sp>
        <p:nvSpPr>
          <p:cNvPr id="30" name="Shape 23"/>
          <p:cNvSpPr/>
          <p:nvPr/>
        </p:nvSpPr>
        <p:spPr>
          <a:xfrm>
            <a:off x="5029200" y="5212080"/>
            <a:ext cx="640080" cy="640080"/>
          </a:xfrm>
          <a:prstGeom prst="ellipse">
            <a:avLst/>
          </a:prstGeom>
          <a:solidFill>
            <a:srgbClr val="FFFFFF"/>
          </a:solidFill>
          <a:ln w="12700">
            <a:solidFill>
              <a:srgbClr val="FFFFFF"/>
            </a:solidFill>
            <a:prstDash val="solid"/>
          </a:ln>
        </p:spPr>
        <p:txBody>
          <a:bodyPr/>
          <a:lstStyle/>
          <a:p>
            <a:pPr algn="l">
              <a:spcBef>
                <a:spcPts val="0"/>
              </a:spcBef>
              <a:spcAft>
                <a:spcPts val="0"/>
              </a:spcAft>
            </a:pPr>
            <a:endParaRPr/>
          </a:p>
        </p:txBody>
      </p:sp>
      <p:pic>
        <p:nvPicPr>
          <p:cNvPr id="31" name="Image 5" descr="preencoded.png"/>
          <p:cNvPicPr>
            <a:picLocks noChangeAspect="1"/>
          </p:cNvPicPr>
          <p:nvPr/>
        </p:nvPicPr>
        <p:blipFill>
          <a:blip r:embed="rId8"/>
          <a:stretch>
            <a:fillRect/>
          </a:stretch>
        </p:blipFill>
        <p:spPr>
          <a:xfrm>
            <a:off x="5184648" y="5367528"/>
            <a:ext cx="329184" cy="329184"/>
          </a:xfrm>
          <a:prstGeom prst="rect">
            <a:avLst/>
          </a:prstGeom>
        </p:spPr>
      </p:pic>
      <p:sp>
        <p:nvSpPr>
          <p:cNvPr id="32" name="Text 24"/>
          <p:cNvSpPr txBox="1"/>
          <p:nvPr/>
        </p:nvSpPr>
        <p:spPr>
          <a:xfrm>
            <a:off x="5852160" y="5166360"/>
            <a:ext cx="2788920" cy="731520"/>
          </a:xfrm>
          <a:prstGeom prst="rect">
            <a:avLst/>
          </a:prstGeom>
          <a:solidFill>
            <a:srgbClr val="FFFFFF"/>
          </a:solidFill>
          <a:ln>
            <a:solidFill>
              <a:srgbClr val="FFFFFF"/>
            </a:solidFill>
          </a:ln>
        </p:spPr>
        <p:txBody>
          <a:bodyPr wrap="square" lIns="0" tIns="0" rIns="0" bIns="0" rtlCol="0" anchor="ctr"/>
          <a:lstStyle/>
          <a:p>
            <a:pPr marL="0" indent="0" algn="l">
              <a:spcBef>
                <a:spcPts val="0"/>
              </a:spcBef>
              <a:spcAft>
                <a:spcPts val="0"/>
              </a:spcAft>
              <a:buNone/>
            </a:pPr>
            <a:r>
              <a:rPr lang="en-US" b="0" i="0" u="none" dirty="0">
                <a:solidFill>
                  <a:srgbClr val="000000"/>
                </a:solidFill>
                <a:latin typeface="Arial" pitchFamily="34" charset="0"/>
                <a:ea typeface="Cambria" pitchFamily="34" charset="-122"/>
                <a:cs typeface="Cambria" pitchFamily="34" charset="-120"/>
              </a:rPr>
              <a:t>Video-based detection</a:t>
            </a:r>
            <a:endParaRPr lang="en-US" sz="1700" dirty="0"/>
          </a:p>
        </p:txBody>
      </p:sp>
      <p:sp>
        <p:nvSpPr>
          <p:cNvPr id="33" name="Text 25"/>
          <p:cNvSpPr txBox="1"/>
          <p:nvPr/>
        </p:nvSpPr>
        <p:spPr>
          <a:xfrm>
            <a:off x="5029200" y="5852160"/>
            <a:ext cx="3566160" cy="731520"/>
          </a:xfrm>
          <a:prstGeom prst="rect">
            <a:avLst/>
          </a:prstGeom>
          <a:solidFill>
            <a:srgbClr val="FFFFFF"/>
          </a:solidFill>
          <a:ln>
            <a:solidFill>
              <a:srgbClr val="FFFFFF"/>
            </a:solidFill>
          </a:ln>
        </p:spPr>
        <p:txBody>
          <a:bodyPr wrap="square" lIns="0" tIns="0" rIns="0" bIns="0" rtlCol="0" anchor="t"/>
          <a:lstStyle/>
          <a:p>
            <a:pPr marL="171450" indent="-171450" algn="l">
              <a:spcBef>
                <a:spcPts val="0"/>
              </a:spcBef>
              <a:spcAft>
                <a:spcPts val="300"/>
              </a:spcAft>
              <a:buSzPct val="100000"/>
              <a:buChar char="•"/>
            </a:pPr>
            <a:r>
              <a:rPr lang="en-US" b="0" i="0" u="none" dirty="0" sz="1200">
                <a:solidFill>
                  <a:srgbClr val="000000"/>
                </a:solidFill>
                <a:latin typeface="Arial" pitchFamily="34" charset="0"/>
                <a:ea typeface="Calibri" pitchFamily="34" charset="-122"/>
                <a:cs typeface="Calibri" pitchFamily="34" charset="-120"/>
              </a:rPr>
              <a:t>YOLOv8 with object tracking</a:t>
            </a:r>
            <a:endParaRPr lang="en-US" sz="1200" dirty="0"/>
          </a:p>
          <a:p>
            <a:pPr marL="171450" indent="-171450" algn="l">
              <a:spcBef>
                <a:spcPts val="0"/>
              </a:spcBef>
              <a:spcAft>
                <a:spcPts val="300"/>
              </a:spcAft>
              <a:buSzPct val="100000"/>
              <a:buChar char="•"/>
            </a:pPr>
            <a:r>
              <a:rPr lang="en-US" b="0" i="0" u="none" dirty="0" sz="1200">
                <a:solidFill>
                  <a:srgbClr val="000000"/>
                </a:solidFill>
                <a:latin typeface="Arial" pitchFamily="34" charset="0"/>
                <a:ea typeface="Calibri" pitchFamily="34" charset="-122"/>
                <a:cs typeface="Calibri" pitchFamily="34" charset="-120"/>
              </a:rPr>
              <a:t>For CCTV or checkpoint use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TotalTime>
  <Words>1056</Words>
  <Application>Microsoft Macintosh PowerPoint</Application>
  <PresentationFormat>Custom</PresentationFormat>
  <Paragraphs>165</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Traffic Violation Report System</dc:title>
  <dc:subject>PptxGenJS Presentation</dc:subject>
  <dc:creator>PptxGenJS</dc:creator>
  <cp:lastModifiedBy>Microsoft Office User</cp:lastModifiedBy>
  <cp:revision>31</cp:revision>
  <dcterms:created xsi:type="dcterms:W3CDTF">2026-09-29T13:20:03Z</dcterms:created>
  <dcterms:modified xsi:type="dcterms:W3CDTF">2026-09-29T16:36:06Z</dcterms:modified>
</cp:coreProperties>
</file>